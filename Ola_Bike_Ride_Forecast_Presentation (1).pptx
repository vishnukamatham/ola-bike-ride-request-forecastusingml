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0" d="100"/>
          <a:sy n="130" d="100"/>
        </p:scale>
        <p:origin x="77"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 vardhan reddy" userId="89549aca20a7480e" providerId="LiveId" clId="{C1E5D273-FA17-4F34-B637-F5AD47FE27FD}"/>
    <pc:docChg chg="delSld modSld sldOrd">
      <pc:chgData name="vishnu vardhan reddy" userId="89549aca20a7480e" providerId="LiveId" clId="{C1E5D273-FA17-4F34-B637-F5AD47FE27FD}" dt="2026-06-08T04:30:08.047" v="12" actId="2696"/>
      <pc:docMkLst>
        <pc:docMk/>
      </pc:docMkLst>
      <pc:sldChg chg="ord">
        <pc:chgData name="vishnu vardhan reddy" userId="89549aca20a7480e" providerId="LiveId" clId="{C1E5D273-FA17-4F34-B637-F5AD47FE27FD}" dt="2026-06-08T04:29:20.782" v="11"/>
        <pc:sldMkLst>
          <pc:docMk/>
          <pc:sldMk cId="0" sldId="257"/>
        </pc:sldMkLst>
      </pc:sldChg>
      <pc:sldChg chg="modSp mod">
        <pc:chgData name="vishnu vardhan reddy" userId="89549aca20a7480e" providerId="LiveId" clId="{C1E5D273-FA17-4F34-B637-F5AD47FE27FD}" dt="2026-06-08T03:50:41.665" v="0" actId="1036"/>
        <pc:sldMkLst>
          <pc:docMk/>
          <pc:sldMk cId="0" sldId="258"/>
        </pc:sldMkLst>
        <pc:spChg chg="mod">
          <ac:chgData name="vishnu vardhan reddy" userId="89549aca20a7480e" providerId="LiveId" clId="{C1E5D273-FA17-4F34-B637-F5AD47FE27FD}" dt="2026-06-08T03:50:41.665" v="0" actId="1036"/>
          <ac:spMkLst>
            <pc:docMk/>
            <pc:sldMk cId="0" sldId="258"/>
            <ac:spMk id="6" creationId="{00000000-0000-0000-0000-000000000000}"/>
          </ac:spMkLst>
        </pc:spChg>
      </pc:sldChg>
      <pc:sldChg chg="modSp mod">
        <pc:chgData name="vishnu vardhan reddy" userId="89549aca20a7480e" providerId="LiveId" clId="{C1E5D273-FA17-4F34-B637-F5AD47FE27FD}" dt="2026-06-08T03:52:21.457" v="9" actId="20577"/>
        <pc:sldMkLst>
          <pc:docMk/>
          <pc:sldMk cId="0" sldId="260"/>
        </pc:sldMkLst>
        <pc:spChg chg="mod">
          <ac:chgData name="vishnu vardhan reddy" userId="89549aca20a7480e" providerId="LiveId" clId="{C1E5D273-FA17-4F34-B637-F5AD47FE27FD}" dt="2026-06-08T03:52:09.131" v="6" actId="20577"/>
          <ac:spMkLst>
            <pc:docMk/>
            <pc:sldMk cId="0" sldId="260"/>
            <ac:spMk id="9" creationId="{00000000-0000-0000-0000-000000000000}"/>
          </ac:spMkLst>
        </pc:spChg>
        <pc:spChg chg="mod">
          <ac:chgData name="vishnu vardhan reddy" userId="89549aca20a7480e" providerId="LiveId" clId="{C1E5D273-FA17-4F34-B637-F5AD47FE27FD}" dt="2026-06-08T03:52:21.457" v="9" actId="20577"/>
          <ac:spMkLst>
            <pc:docMk/>
            <pc:sldMk cId="0" sldId="260"/>
            <ac:spMk id="13" creationId="{00000000-0000-0000-0000-000000000000}"/>
          </ac:spMkLst>
        </pc:spChg>
      </pc:sldChg>
      <pc:sldChg chg="del">
        <pc:chgData name="vishnu vardhan reddy" userId="89549aca20a7480e" providerId="LiveId" clId="{C1E5D273-FA17-4F34-B637-F5AD47FE27FD}" dt="2026-06-08T04:30:08.047" v="12" actId="2696"/>
        <pc:sldMkLst>
          <pc:docMk/>
          <pc:sldMk cId="0" sldId="26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lang="en-US" sz="1200" b="0" i="0" u="none" strike="noStrike">
                <a:solidFill>
                  <a:srgbClr val="00A896"/>
                </a:solidFill>
                <a:latin typeface="Arial"/>
              </a:rPr>
              <a:t>Seasonality Trends</a:t>
            </a:r>
          </a:p>
        </c:rich>
      </c:tx>
      <c:overlay val="0"/>
    </c:title>
    <c:autoTitleDeleted val="0"/>
    <c:plotArea>
      <c:layout/>
      <c:barChart>
        <c:barDir val="col"/>
        <c:grouping val="clustered"/>
        <c:varyColors val="0"/>
        <c:ser>
          <c:idx val="0"/>
          <c:order val="0"/>
          <c:tx>
            <c:strRef>
              <c:f>Sheet1!$B$1</c:f>
              <c:strCache>
                <c:ptCount val="1"/>
                <c:pt idx="0">
                  <c:v>Avg Ride Count</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4012-4980-897D-DABB98405E75}"/>
              </c:ext>
            </c:extLst>
          </c:dPt>
          <c:dPt>
            <c:idx val="1"/>
            <c:invertIfNegative val="0"/>
            <c:bubble3D val="0"/>
            <c:spPr>
              <a:solidFill>
                <a:srgbClr val="00A896"/>
              </a:solidFill>
              <a:effectLst/>
            </c:spPr>
            <c:extLst>
              <c:ext xmlns:c16="http://schemas.microsoft.com/office/drawing/2014/chart" uri="{C3380CC4-5D6E-409C-BE32-E72D297353CC}">
                <c16:uniqueId val="{00000003-4012-4980-897D-DABB98405E75}"/>
              </c:ext>
            </c:extLst>
          </c:dPt>
          <c:dPt>
            <c:idx val="2"/>
            <c:invertIfNegative val="0"/>
            <c:bubble3D val="0"/>
            <c:spPr>
              <a:solidFill>
                <a:srgbClr val="02C39A"/>
              </a:solidFill>
              <a:effectLst/>
            </c:spPr>
            <c:extLst>
              <c:ext xmlns:c16="http://schemas.microsoft.com/office/drawing/2014/chart" uri="{C3380CC4-5D6E-409C-BE32-E72D297353CC}">
                <c16:uniqueId val="{00000005-4012-4980-897D-DABB98405E75}"/>
              </c:ext>
            </c:extLst>
          </c:dPt>
          <c:dPt>
            <c:idx val="3"/>
            <c:invertIfNegative val="0"/>
            <c:bubble3D val="0"/>
            <c:spPr>
              <a:solidFill>
                <a:srgbClr val="014D57"/>
              </a:solidFill>
              <a:effectLst/>
            </c:spPr>
            <c:extLst>
              <c:ext xmlns:c16="http://schemas.microsoft.com/office/drawing/2014/chart" uri="{C3380CC4-5D6E-409C-BE32-E72D297353CC}">
                <c16:uniqueId val="{00000007-4012-4980-897D-DABB98405E75}"/>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Spring</c:v>
                </c:pt>
                <c:pt idx="1">
                  <c:v>Summer</c:v>
                </c:pt>
                <c:pt idx="2">
                  <c:v>Fall</c:v>
                </c:pt>
                <c:pt idx="3">
                  <c:v>Winter</c:v>
                </c:pt>
              </c:strCache>
            </c:strRef>
          </c:cat>
          <c:val>
            <c:numRef>
              <c:f>Sheet1!$B$2:$B$5</c:f>
              <c:numCache>
                <c:formatCode>General</c:formatCode>
                <c:ptCount val="4"/>
                <c:pt idx="0">
                  <c:v>190</c:v>
                </c:pt>
                <c:pt idx="1">
                  <c:v>220</c:v>
                </c:pt>
                <c:pt idx="2">
                  <c:v>235</c:v>
                </c:pt>
                <c:pt idx="3">
                  <c:v>175</c:v>
                </c:pt>
              </c:numCache>
            </c:numRef>
          </c:val>
          <c:extLst>
            <c:ext xmlns:c16="http://schemas.microsoft.com/office/drawing/2014/chart" uri="{C3380CC4-5D6E-409C-BE32-E72D297353CC}">
              <c16:uniqueId val="{00000008-4012-4980-897D-DABB98405E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3223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lang="en-US" sz="1200" b="0" i="0" u="none" strike="noStrike">
                <a:solidFill>
                  <a:srgbClr val="00A896"/>
                </a:solidFill>
                <a:latin typeface="Arial"/>
              </a:rPr>
              <a:t>Monthly Demand Breakdown</a:t>
            </a:r>
          </a:p>
        </c:rich>
      </c:tx>
      <c:overlay val="0"/>
    </c:title>
    <c:autoTitleDeleted val="0"/>
    <c:plotArea>
      <c:layout/>
      <c:lineChart>
        <c:grouping val="standard"/>
        <c:varyColors val="0"/>
        <c:ser>
          <c:idx val="0"/>
          <c:order val="0"/>
          <c:tx>
            <c:strRef>
              <c:f>Sheet1!$B$1</c:f>
              <c:strCache>
                <c:ptCount val="1"/>
                <c:pt idx="0">
                  <c:v>Monthly Avg</c:v>
                </c:pt>
              </c:strCache>
            </c:strRef>
          </c:tx>
          <c:spPr>
            <a:ln w="31750" cap="flat">
              <a:solidFill>
                <a:srgbClr val="F9A825"/>
              </a:solidFill>
              <a:prstDash val="solid"/>
              <a:round/>
            </a:ln>
            <a:effectLst/>
          </c:spPr>
          <c:marker>
            <c:symbol val="circle"/>
            <c:size val="6"/>
            <c:spPr>
              <a:solidFill>
                <a:srgbClr val="F9A825"/>
              </a:solidFill>
              <a:ln w="9525" cap="flat">
                <a:solidFill>
                  <a:srgbClr val="F9A825"/>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175</c:v>
                </c:pt>
                <c:pt idx="1">
                  <c:v>178</c:v>
                </c:pt>
                <c:pt idx="2">
                  <c:v>200</c:v>
                </c:pt>
                <c:pt idx="3">
                  <c:v>225</c:v>
                </c:pt>
                <c:pt idx="4">
                  <c:v>260</c:v>
                </c:pt>
                <c:pt idx="5">
                  <c:v>265</c:v>
                </c:pt>
                <c:pt idx="6">
                  <c:v>255</c:v>
                </c:pt>
                <c:pt idx="7">
                  <c:v>250</c:v>
                </c:pt>
                <c:pt idx="8">
                  <c:v>240</c:v>
                </c:pt>
                <c:pt idx="9">
                  <c:v>220</c:v>
                </c:pt>
                <c:pt idx="10">
                  <c:v>190</c:v>
                </c:pt>
                <c:pt idx="11">
                  <c:v>170</c:v>
                </c:pt>
              </c:numCache>
            </c:numRef>
          </c:val>
          <c:smooth val="1"/>
          <c:extLst>
            <c:ext xmlns:c16="http://schemas.microsoft.com/office/drawing/2014/chart" uri="{C3380CC4-5D6E-409C-BE32-E72D297353CC}">
              <c16:uniqueId val="{00000000-A664-487E-B6EE-03B316E43C9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32233"/>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lang="en-US" sz="1200" b="0" i="0" u="none" strike="noStrike">
                <a:solidFill>
                  <a:srgbClr val="00A896"/>
                </a:solidFill>
                <a:latin typeface="Arial"/>
              </a:rPr>
              <a:t>Weather Conditions Impact</a:t>
            </a:r>
          </a:p>
        </c:rich>
      </c:tx>
      <c:overlay val="0"/>
    </c:title>
    <c:autoTitleDeleted val="0"/>
    <c:plotArea>
      <c:layout/>
      <c:barChart>
        <c:barDir val="col"/>
        <c:grouping val="clustered"/>
        <c:varyColors val="0"/>
        <c:ser>
          <c:idx val="0"/>
          <c:order val="0"/>
          <c:tx>
            <c:strRef>
              <c:f>Sheet1!$B$1</c:f>
              <c:strCache>
                <c:ptCount val="1"/>
                <c:pt idx="0">
                  <c:v>Avg Count</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9BBF-4A12-B0FB-5245CBA14A15}"/>
              </c:ext>
            </c:extLst>
          </c:dPt>
          <c:dPt>
            <c:idx val="1"/>
            <c:invertIfNegative val="0"/>
            <c:bubble3D val="0"/>
            <c:spPr>
              <a:solidFill>
                <a:srgbClr val="00A896"/>
              </a:solidFill>
              <a:effectLst/>
            </c:spPr>
            <c:extLst>
              <c:ext xmlns:c16="http://schemas.microsoft.com/office/drawing/2014/chart" uri="{C3380CC4-5D6E-409C-BE32-E72D297353CC}">
                <c16:uniqueId val="{00000003-9BBF-4A12-B0FB-5245CBA14A15}"/>
              </c:ext>
            </c:extLst>
          </c:dPt>
          <c:dPt>
            <c:idx val="2"/>
            <c:invertIfNegative val="0"/>
            <c:bubble3D val="0"/>
            <c:spPr>
              <a:solidFill>
                <a:srgbClr val="F9A825"/>
              </a:solidFill>
              <a:effectLst/>
            </c:spPr>
            <c:extLst>
              <c:ext xmlns:c16="http://schemas.microsoft.com/office/drawing/2014/chart" uri="{C3380CC4-5D6E-409C-BE32-E72D297353CC}">
                <c16:uniqueId val="{00000005-9BBF-4A12-B0FB-5245CBA14A15}"/>
              </c:ext>
            </c:extLst>
          </c:dPt>
          <c:dPt>
            <c:idx val="3"/>
            <c:invertIfNegative val="0"/>
            <c:bubble3D val="0"/>
            <c:spPr>
              <a:solidFill>
                <a:srgbClr val="8B3A3A"/>
              </a:solidFill>
              <a:effectLst/>
            </c:spPr>
            <c:extLst>
              <c:ext xmlns:c16="http://schemas.microsoft.com/office/drawing/2014/chart" uri="{C3380CC4-5D6E-409C-BE32-E72D297353CC}">
                <c16:uniqueId val="{00000007-9BBF-4A12-B0FB-5245CBA14A15}"/>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Clear/Clouds</c:v>
                </c:pt>
                <c:pt idx="1">
                  <c:v>Mist/Cloudy</c:v>
                </c:pt>
                <c:pt idx="2">
                  <c:v>Light Rain</c:v>
                </c:pt>
                <c:pt idx="3">
                  <c:v>Heavy Rain</c:v>
                </c:pt>
              </c:strCache>
            </c:strRef>
          </c:cat>
          <c:val>
            <c:numRef>
              <c:f>Sheet1!$B$2:$B$5</c:f>
              <c:numCache>
                <c:formatCode>General</c:formatCode>
                <c:ptCount val="4"/>
                <c:pt idx="0">
                  <c:v>225</c:v>
                </c:pt>
                <c:pt idx="1">
                  <c:v>200</c:v>
                </c:pt>
                <c:pt idx="2">
                  <c:v>160</c:v>
                </c:pt>
                <c:pt idx="3">
                  <c:v>110</c:v>
                </c:pt>
              </c:numCache>
            </c:numRef>
          </c:val>
          <c:extLst>
            <c:ext xmlns:c16="http://schemas.microsoft.com/office/drawing/2014/chart" uri="{C3380CC4-5D6E-409C-BE32-E72D297353CC}">
              <c16:uniqueId val="{00000008-9BBF-4A12-B0FB-5245CBA14A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32233"/>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lang="de-DE" sz="1200" b="0" i="0" u="none" strike="noStrike">
                <a:solidFill>
                  <a:srgbClr val="00A896"/>
                </a:solidFill>
                <a:latin typeface="Arial"/>
              </a:rPr>
              <a:t>Ride Demand AM vs PM</a:t>
            </a:r>
          </a:p>
        </c:rich>
      </c:tx>
      <c:overlay val="0"/>
    </c:title>
    <c:autoTitleDeleted val="0"/>
    <c:plotArea>
      <c:layout/>
      <c:doughnutChart>
        <c:varyColors val="1"/>
        <c:ser>
          <c:idx val="0"/>
          <c:order val="0"/>
          <c:tx>
            <c:strRef>
              <c:f>Sheet1!$B$1</c:f>
              <c:strCache>
                <c:ptCount val="1"/>
                <c:pt idx="0">
                  <c:v>Period</c:v>
                </c:pt>
              </c:strCache>
            </c:strRef>
          </c:tx>
          <c:spPr>
            <a:solidFill>
              <a:schemeClr val="accent1"/>
            </a:solidFill>
            <a:ln w="9525" cap="flat">
              <a:solidFill>
                <a:srgbClr val="F9F9F9"/>
              </a:solidFill>
              <a:prstDash val="solid"/>
              <a:round/>
            </a:ln>
            <a:effectLst/>
          </c:spPr>
          <c:dPt>
            <c:idx val="0"/>
            <c:bubble3D val="0"/>
            <c:spPr>
              <a:solidFill>
                <a:srgbClr val="6D28D9"/>
              </a:solidFill>
              <a:effectLst/>
            </c:spPr>
            <c:extLst>
              <c:ext xmlns:c16="http://schemas.microsoft.com/office/drawing/2014/chart" uri="{C3380CC4-5D6E-409C-BE32-E72D297353CC}">
                <c16:uniqueId val="{00000001-1F61-46CB-A6BE-C8B4B1209CA1}"/>
              </c:ext>
            </c:extLst>
          </c:dPt>
          <c:dPt>
            <c:idx val="1"/>
            <c:bubble3D val="0"/>
            <c:spPr>
              <a:solidFill>
                <a:srgbClr val="F9A825"/>
              </a:solidFill>
              <a:effectLst/>
            </c:spPr>
            <c:extLst>
              <c:ext xmlns:c16="http://schemas.microsoft.com/office/drawing/2014/chart" uri="{C3380CC4-5D6E-409C-BE32-E72D297353CC}">
                <c16:uniqueId val="{00000003-1F61-46CB-A6BE-C8B4B1209CA1}"/>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F61-46CB-A6BE-C8B4B1209CA1}"/>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F61-46CB-A6BE-C8B4B1209CA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AM Period</c:v>
                </c:pt>
                <c:pt idx="1">
                  <c:v>PM Period</c:v>
                </c:pt>
              </c:strCache>
            </c:strRef>
          </c:cat>
          <c:val>
            <c:numRef>
              <c:f>Sheet1!$B$2:$B$3</c:f>
              <c:numCache>
                <c:formatCode>General</c:formatCode>
                <c:ptCount val="2"/>
                <c:pt idx="0">
                  <c:v>42</c:v>
                </c:pt>
                <c:pt idx="1">
                  <c:v>58</c:v>
                </c:pt>
              </c:numCache>
            </c:numRef>
          </c:val>
          <c:extLst>
            <c:ext xmlns:c16="http://schemas.microsoft.com/office/drawing/2014/chart" uri="{C3380CC4-5D6E-409C-BE32-E72D297353CC}">
              <c16:uniqueId val="{00000004-1F61-46CB-A6BE-C8B4B1209CA1}"/>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a:solidFill>
                <a:srgbClr val="B0C4CE"/>
              </a:solidFill>
            </a:defRPr>
          </a:pPr>
          <a:endParaRPr lang="en-US"/>
        </a:p>
      </c:txPr>
    </c:legend>
    <c:plotVisOnly val="1"/>
    <c:dispBlanksAs val="span"/>
    <c:showDLblsOverMax val="1"/>
  </c:chart>
  <c:spPr>
    <a:solidFill>
      <a:srgbClr val="132233"/>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lang="en-US" sz="1200" b="0" i="0" u="none" strike="noStrike">
                <a:solidFill>
                  <a:srgbClr val="00A896"/>
                </a:solidFill>
                <a:latin typeface="Arial"/>
              </a:rPr>
              <a:t>R² Score Comparison</a:t>
            </a:r>
          </a:p>
        </c:rich>
      </c:tx>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148A-4C89-A415-DDC13C8561D9}"/>
              </c:ext>
            </c:extLst>
          </c:dPt>
          <c:dPt>
            <c:idx val="1"/>
            <c:invertIfNegative val="0"/>
            <c:bubble3D val="0"/>
            <c:spPr>
              <a:solidFill>
                <a:srgbClr val="00A896"/>
              </a:solidFill>
              <a:effectLst/>
            </c:spPr>
            <c:extLst>
              <c:ext xmlns:c16="http://schemas.microsoft.com/office/drawing/2014/chart" uri="{C3380CC4-5D6E-409C-BE32-E72D297353CC}">
                <c16:uniqueId val="{00000003-148A-4C89-A415-DDC13C8561D9}"/>
              </c:ext>
            </c:extLst>
          </c:dPt>
          <c:dPt>
            <c:idx val="2"/>
            <c:invertIfNegative val="0"/>
            <c:bubble3D val="0"/>
            <c:spPr>
              <a:solidFill>
                <a:srgbClr val="02C39A"/>
              </a:solidFill>
              <a:effectLst/>
            </c:spPr>
            <c:extLst>
              <c:ext xmlns:c16="http://schemas.microsoft.com/office/drawing/2014/chart" uri="{C3380CC4-5D6E-409C-BE32-E72D297353CC}">
                <c16:uniqueId val="{00000005-148A-4C89-A415-DDC13C8561D9}"/>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Ridge Regression</c:v>
                </c:pt>
                <c:pt idx="2">
                  <c:v>Lasso Regression</c:v>
                </c:pt>
              </c:strCache>
            </c:strRef>
          </c:cat>
          <c:val>
            <c:numRef>
              <c:f>Sheet1!$B$2:$B$4</c:f>
              <c:numCache>
                <c:formatCode>General</c:formatCode>
                <c:ptCount val="3"/>
                <c:pt idx="0">
                  <c:v>0.82</c:v>
                </c:pt>
                <c:pt idx="1">
                  <c:v>0.85</c:v>
                </c:pt>
                <c:pt idx="2">
                  <c:v>0.84</c:v>
                </c:pt>
              </c:numCache>
            </c:numRef>
          </c:val>
          <c:extLst>
            <c:ext xmlns:c16="http://schemas.microsoft.com/office/drawing/2014/chart" uri="{C3380CC4-5D6E-409C-BE32-E72D297353CC}">
              <c16:uniqueId val="{00000006-148A-4C89-A415-DDC13C8561D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2"/>
        <c:crosses val="autoZero"/>
        <c:auto val="1"/>
        <c:lblAlgn val="ctr"/>
        <c:lblOffset val="100"/>
        <c:noMultiLvlLbl val="1"/>
      </c:catAx>
      <c:valAx>
        <c:axId val="2094734552"/>
        <c:scaling>
          <c:orientation val="minMax"/>
          <c:max val="0.9"/>
          <c:min val="0.75"/>
        </c:scaling>
        <c:delete val="0"/>
        <c:axPos val="l"/>
        <c:majorGridlines>
          <c:spPr>
            <a:ln w="6350" cap="flat">
              <a:solidFill>
                <a:srgbClr val="1A3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32233"/>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lang="en-US" sz="1200" b="0" i="0" u="none" strike="noStrike">
                <a:solidFill>
                  <a:srgbClr val="00A896"/>
                </a:solidFill>
                <a:latin typeface="Arial"/>
              </a:rPr>
              <a:t>RMSE Comparison (Lower is Better)</a:t>
            </a:r>
          </a:p>
        </c:rich>
      </c:tx>
      <c:overlay val="0"/>
    </c:title>
    <c:autoTitleDeleted val="0"/>
    <c:plotArea>
      <c:layout/>
      <c:barChart>
        <c:barDir val="col"/>
        <c:grouping val="clustered"/>
        <c:varyColors val="0"/>
        <c:ser>
          <c:idx val="0"/>
          <c:order val="0"/>
          <c:tx>
            <c:strRef>
              <c:f>Sheet1!$B$1</c:f>
              <c:strCache>
                <c:ptCount val="1"/>
                <c:pt idx="0">
                  <c:v>RMSE</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498C-466E-A349-E2B481BA3ED2}"/>
              </c:ext>
            </c:extLst>
          </c:dPt>
          <c:dPt>
            <c:idx val="1"/>
            <c:invertIfNegative val="0"/>
            <c:bubble3D val="0"/>
            <c:spPr>
              <a:solidFill>
                <a:srgbClr val="00A896"/>
              </a:solidFill>
              <a:effectLst/>
            </c:spPr>
            <c:extLst>
              <c:ext xmlns:c16="http://schemas.microsoft.com/office/drawing/2014/chart" uri="{C3380CC4-5D6E-409C-BE32-E72D297353CC}">
                <c16:uniqueId val="{00000003-498C-466E-A349-E2B481BA3ED2}"/>
              </c:ext>
            </c:extLst>
          </c:dPt>
          <c:dPt>
            <c:idx val="2"/>
            <c:invertIfNegative val="0"/>
            <c:bubble3D val="0"/>
            <c:spPr>
              <a:solidFill>
                <a:srgbClr val="02C39A"/>
              </a:solidFill>
              <a:effectLst/>
            </c:spPr>
            <c:extLst>
              <c:ext xmlns:c16="http://schemas.microsoft.com/office/drawing/2014/chart" uri="{C3380CC4-5D6E-409C-BE32-E72D297353CC}">
                <c16:uniqueId val="{00000005-498C-466E-A349-E2B481BA3ED2}"/>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Ridge Regression</c:v>
                </c:pt>
                <c:pt idx="2">
                  <c:v>Lasso Regression</c:v>
                </c:pt>
              </c:strCache>
            </c:strRef>
          </c:cat>
          <c:val>
            <c:numRef>
              <c:f>Sheet1!$B$2:$B$4</c:f>
              <c:numCache>
                <c:formatCode>General</c:formatCode>
                <c:ptCount val="3"/>
                <c:pt idx="0">
                  <c:v>98.2</c:v>
                </c:pt>
                <c:pt idx="1">
                  <c:v>89.4</c:v>
                </c:pt>
                <c:pt idx="2">
                  <c:v>91.7</c:v>
                </c:pt>
              </c:numCache>
            </c:numRef>
          </c:val>
          <c:extLst>
            <c:ext xmlns:c16="http://schemas.microsoft.com/office/drawing/2014/chart" uri="{C3380CC4-5D6E-409C-BE32-E72D297353CC}">
              <c16:uniqueId val="{00000006-498C-466E-A349-E2B481BA3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32233"/>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A896"/>
                </a:solidFill>
                <a:latin typeface="Arial"/>
              </a:defRPr>
            </a:pPr>
            <a:r>
              <a:rPr sz="1200" b="0" i="0" u="none" strike="noStrike">
                <a:solidFill>
                  <a:srgbClr val="00A896"/>
                </a:solidFill>
                <a:latin typeface="Arial"/>
              </a:rPr>
              <a:t>Actual vs Predicted Ride Demand (Sample)</a:t>
            </a:r>
          </a:p>
        </c:rich>
      </c:tx>
      <c:overlay val="0"/>
    </c:title>
    <c:autoTitleDeleted val="0"/>
    <c:plotArea>
      <c:layout/>
      <c:lineChart>
        <c:grouping val="standard"/>
        <c:varyColors val="0"/>
        <c:ser>
          <c:idx val="0"/>
          <c:order val="0"/>
          <c:tx>
            <c:strRef>
              <c:f>Sheet1!$B$1</c:f>
              <c:strCache>
                <c:ptCount val="1"/>
                <c:pt idx="0">
                  <c:v>Actual Ride Count</c:v>
                </c:pt>
              </c:strCache>
            </c:strRef>
          </c:tx>
          <c:spPr>
            <a:ln w="31750" cap="flat">
              <a:solidFill>
                <a:srgbClr val="F9A825"/>
              </a:solidFill>
              <a:prstDash val="solid"/>
              <a:round/>
            </a:ln>
            <a:effectLst/>
          </c:spPr>
          <c:marker>
            <c:symbol val="circle"/>
            <c:size val="6"/>
            <c:spPr>
              <a:solidFill>
                <a:srgbClr val="F9A825"/>
              </a:solidFill>
              <a:ln w="9525" cap="flat">
                <a:solidFill>
                  <a:srgbClr val="F9A825"/>
                </a:solidFill>
                <a:prstDash val="solid"/>
                <a:round/>
              </a:ln>
              <a:effectLst/>
            </c:spPr>
          </c:marker>
          <c:cat>
            <c:strRef>
              <c:f>Sheet1!$A$2:$A$16</c:f>
              <c:strCache>
                <c:ptCount val="15"/>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strCache>
            </c:strRef>
          </c:cat>
          <c:val>
            <c:numRef>
              <c:f>Sheet1!$B$2:$B$16</c:f>
              <c:numCache>
                <c:formatCode>General</c:formatCode>
                <c:ptCount val="15"/>
                <c:pt idx="0">
                  <c:v>180</c:v>
                </c:pt>
                <c:pt idx="1">
                  <c:v>240</c:v>
                </c:pt>
                <c:pt idx="2">
                  <c:v>310</c:v>
                </c:pt>
                <c:pt idx="3">
                  <c:v>280</c:v>
                </c:pt>
                <c:pt idx="4">
                  <c:v>350</c:v>
                </c:pt>
                <c:pt idx="5">
                  <c:v>420</c:v>
                </c:pt>
                <c:pt idx="6">
                  <c:v>380</c:v>
                </c:pt>
                <c:pt idx="7">
                  <c:v>450</c:v>
                </c:pt>
                <c:pt idx="8">
                  <c:v>310</c:v>
                </c:pt>
                <c:pt idx="9">
                  <c:v>260</c:v>
                </c:pt>
                <c:pt idx="10">
                  <c:v>290</c:v>
                </c:pt>
                <c:pt idx="11">
                  <c:v>220</c:v>
                </c:pt>
                <c:pt idx="12">
                  <c:v>190</c:v>
                </c:pt>
                <c:pt idx="13">
                  <c:v>350</c:v>
                </c:pt>
                <c:pt idx="14">
                  <c:v>400</c:v>
                </c:pt>
              </c:numCache>
            </c:numRef>
          </c:val>
          <c:smooth val="1"/>
          <c:extLst>
            <c:ext xmlns:c16="http://schemas.microsoft.com/office/drawing/2014/chart" uri="{C3380CC4-5D6E-409C-BE32-E72D297353CC}">
              <c16:uniqueId val="{00000000-0442-4282-A60E-5321BAC71E28}"/>
            </c:ext>
          </c:extLst>
        </c:ser>
        <c:ser>
          <c:idx val="1"/>
          <c:order val="1"/>
          <c:tx>
            <c:strRef>
              <c:f>Sheet1!$C$1</c:f>
              <c:strCache>
                <c:ptCount val="1"/>
                <c:pt idx="0">
                  <c:v>Predicted (Ridge)</c:v>
                </c:pt>
              </c:strCache>
            </c:strRef>
          </c:tx>
          <c:spPr>
            <a:ln w="31750" cap="flat">
              <a:solidFill>
                <a:srgbClr val="02C39A"/>
              </a:solidFill>
              <a:prstDash val="solid"/>
              <a:round/>
            </a:ln>
            <a:effectLst/>
          </c:spPr>
          <c:marker>
            <c:symbol val="circle"/>
            <c:size val="6"/>
            <c:spPr>
              <a:solidFill>
                <a:srgbClr val="02C39A"/>
              </a:solidFill>
              <a:ln w="9525" cap="flat">
                <a:solidFill>
                  <a:srgbClr val="02C39A"/>
                </a:solidFill>
                <a:prstDash val="solid"/>
                <a:round/>
              </a:ln>
              <a:effectLst/>
            </c:spPr>
          </c:marker>
          <c:cat>
            <c:strRef>
              <c:f>Sheet1!$A$2:$A$16</c:f>
              <c:strCache>
                <c:ptCount val="15"/>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strCache>
            </c:strRef>
          </c:cat>
          <c:val>
            <c:numRef>
              <c:f>Sheet1!$C$2:$C$16</c:f>
              <c:numCache>
                <c:formatCode>General</c:formatCode>
                <c:ptCount val="15"/>
                <c:pt idx="0">
                  <c:v>192</c:v>
                </c:pt>
                <c:pt idx="1">
                  <c:v>228</c:v>
                </c:pt>
                <c:pt idx="2">
                  <c:v>295</c:v>
                </c:pt>
                <c:pt idx="3">
                  <c:v>295</c:v>
                </c:pt>
                <c:pt idx="4">
                  <c:v>362</c:v>
                </c:pt>
                <c:pt idx="5">
                  <c:v>408</c:v>
                </c:pt>
                <c:pt idx="6">
                  <c:v>371</c:v>
                </c:pt>
                <c:pt idx="7">
                  <c:v>438</c:v>
                </c:pt>
                <c:pt idx="8">
                  <c:v>325</c:v>
                </c:pt>
                <c:pt idx="9">
                  <c:v>272</c:v>
                </c:pt>
                <c:pt idx="10">
                  <c:v>278</c:v>
                </c:pt>
                <c:pt idx="11">
                  <c:v>235</c:v>
                </c:pt>
                <c:pt idx="12">
                  <c:v>205</c:v>
                </c:pt>
                <c:pt idx="13">
                  <c:v>338</c:v>
                </c:pt>
                <c:pt idx="14">
                  <c:v>412</c:v>
                </c:pt>
              </c:numCache>
            </c:numRef>
          </c:val>
          <c:smooth val="1"/>
          <c:extLst>
            <c:ext xmlns:c16="http://schemas.microsoft.com/office/drawing/2014/chart" uri="{C3380CC4-5D6E-409C-BE32-E72D297353CC}">
              <c16:uniqueId val="{00000001-0442-4282-A60E-5321BAC71E2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04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C4CE"/>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B0C4CE"/>
              </a:solidFill>
            </a:defRPr>
          </a:pPr>
          <a:endParaRPr lang="en-US"/>
        </a:p>
      </c:txPr>
    </c:legend>
    <c:plotVisOnly val="1"/>
    <c:dispBlanksAs val="span"/>
    <c:showDLblsOverMax val="1"/>
  </c:chart>
  <c:spPr>
    <a:solidFill>
      <a:srgbClr val="132233"/>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A896"/>
                </a:solidFill>
                <a:latin typeface="Arial"/>
              </a:defRPr>
            </a:pPr>
            <a:r>
              <a:rPr lang="en-US" sz="1000" b="0" i="0" u="none" strike="noStrike">
                <a:solidFill>
                  <a:srgbClr val="00A896"/>
                </a:solidFill>
                <a:latin typeface="Arial"/>
              </a:rPr>
              <a:t>Seasonality Trends</a:t>
            </a:r>
          </a:p>
        </c:rich>
      </c:tx>
      <c:overlay val="0"/>
    </c:title>
    <c:autoTitleDeleted val="0"/>
    <c:plotArea>
      <c:layout/>
      <c:barChart>
        <c:barDir val="col"/>
        <c:grouping val="clustered"/>
        <c:varyColors val="0"/>
        <c:ser>
          <c:idx val="0"/>
          <c:order val="0"/>
          <c:tx>
            <c:strRef>
              <c:f>Sheet1!$B$1</c:f>
              <c:strCache>
                <c:ptCount val="1"/>
                <c:pt idx="0">
                  <c:v>Season</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5562-4427-9F03-F1CAEEF6D462}"/>
              </c:ext>
            </c:extLst>
          </c:dPt>
          <c:dPt>
            <c:idx val="1"/>
            <c:invertIfNegative val="0"/>
            <c:bubble3D val="0"/>
            <c:spPr>
              <a:solidFill>
                <a:srgbClr val="00A896"/>
              </a:solidFill>
              <a:effectLst/>
            </c:spPr>
            <c:extLst>
              <c:ext xmlns:c16="http://schemas.microsoft.com/office/drawing/2014/chart" uri="{C3380CC4-5D6E-409C-BE32-E72D297353CC}">
                <c16:uniqueId val="{00000003-5562-4427-9F03-F1CAEEF6D462}"/>
              </c:ext>
            </c:extLst>
          </c:dPt>
          <c:dPt>
            <c:idx val="2"/>
            <c:invertIfNegative val="0"/>
            <c:bubble3D val="0"/>
            <c:spPr>
              <a:solidFill>
                <a:srgbClr val="02C39A"/>
              </a:solidFill>
              <a:effectLst/>
            </c:spPr>
            <c:extLst>
              <c:ext xmlns:c16="http://schemas.microsoft.com/office/drawing/2014/chart" uri="{C3380CC4-5D6E-409C-BE32-E72D297353CC}">
                <c16:uniqueId val="{00000005-5562-4427-9F03-F1CAEEF6D462}"/>
              </c:ext>
            </c:extLst>
          </c:dPt>
          <c:dPt>
            <c:idx val="3"/>
            <c:invertIfNegative val="0"/>
            <c:bubble3D val="0"/>
            <c:spPr>
              <a:solidFill>
                <a:srgbClr val="014D57"/>
              </a:solidFill>
              <a:effectLst/>
            </c:spPr>
            <c:extLst>
              <c:ext xmlns:c16="http://schemas.microsoft.com/office/drawing/2014/chart" uri="{C3380CC4-5D6E-409C-BE32-E72D297353CC}">
                <c16:uniqueId val="{00000007-5562-4427-9F03-F1CAEEF6D462}"/>
              </c:ext>
            </c:extLst>
          </c:dPt>
          <c:cat>
            <c:strRef>
              <c:f>Sheet1!$A$2:$A$5</c:f>
              <c:strCache>
                <c:ptCount val="4"/>
                <c:pt idx="0">
                  <c:v>Spring</c:v>
                </c:pt>
                <c:pt idx="1">
                  <c:v>Summer</c:v>
                </c:pt>
                <c:pt idx="2">
                  <c:v>Fall</c:v>
                </c:pt>
                <c:pt idx="3">
                  <c:v>Winter</c:v>
                </c:pt>
              </c:strCache>
            </c:strRef>
          </c:cat>
          <c:val>
            <c:numRef>
              <c:f>Sheet1!$B$2:$B$5</c:f>
              <c:numCache>
                <c:formatCode>General</c:formatCode>
                <c:ptCount val="4"/>
                <c:pt idx="0">
                  <c:v>190</c:v>
                </c:pt>
                <c:pt idx="1">
                  <c:v>220</c:v>
                </c:pt>
                <c:pt idx="2">
                  <c:v>235</c:v>
                </c:pt>
                <c:pt idx="3">
                  <c:v>175</c:v>
                </c:pt>
              </c:numCache>
            </c:numRef>
          </c:val>
          <c:extLst>
            <c:ext xmlns:c16="http://schemas.microsoft.com/office/drawing/2014/chart" uri="{C3380CC4-5D6E-409C-BE32-E72D297353CC}">
              <c16:uniqueId val="{00000008-5562-4427-9F03-F1CAEEF6D46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0A192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B2A"/>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A896"/>
                </a:solidFill>
                <a:latin typeface="Arial"/>
              </a:defRPr>
            </a:pPr>
            <a:r>
              <a:rPr lang="en-US" sz="1000" b="0" i="0" u="none" strike="noStrike">
                <a:solidFill>
                  <a:srgbClr val="00A896"/>
                </a:solidFill>
                <a:latin typeface="Arial"/>
              </a:rPr>
              <a:t>Weather Conditions Impact</a:t>
            </a:r>
          </a:p>
        </c:rich>
      </c:tx>
      <c:overlay val="0"/>
    </c:title>
    <c:autoTitleDeleted val="0"/>
    <c:plotArea>
      <c:layout/>
      <c:barChart>
        <c:barDir val="col"/>
        <c:grouping val="clustered"/>
        <c:varyColors val="0"/>
        <c:ser>
          <c:idx val="0"/>
          <c:order val="0"/>
          <c:tx>
            <c:strRef>
              <c:f>Sheet1!$B$1</c:f>
              <c:strCache>
                <c:ptCount val="1"/>
                <c:pt idx="0">
                  <c:v>Weather</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C917-4F5F-BD3C-59BBD241DC8C}"/>
              </c:ext>
            </c:extLst>
          </c:dPt>
          <c:dPt>
            <c:idx val="1"/>
            <c:invertIfNegative val="0"/>
            <c:bubble3D val="0"/>
            <c:spPr>
              <a:solidFill>
                <a:srgbClr val="00A896"/>
              </a:solidFill>
              <a:effectLst/>
            </c:spPr>
            <c:extLst>
              <c:ext xmlns:c16="http://schemas.microsoft.com/office/drawing/2014/chart" uri="{C3380CC4-5D6E-409C-BE32-E72D297353CC}">
                <c16:uniqueId val="{00000003-C917-4F5F-BD3C-59BBD241DC8C}"/>
              </c:ext>
            </c:extLst>
          </c:dPt>
          <c:dPt>
            <c:idx val="2"/>
            <c:invertIfNegative val="0"/>
            <c:bubble3D val="0"/>
            <c:spPr>
              <a:solidFill>
                <a:srgbClr val="F9A825"/>
              </a:solidFill>
              <a:effectLst/>
            </c:spPr>
            <c:extLst>
              <c:ext xmlns:c16="http://schemas.microsoft.com/office/drawing/2014/chart" uri="{C3380CC4-5D6E-409C-BE32-E72D297353CC}">
                <c16:uniqueId val="{00000005-C917-4F5F-BD3C-59BBD241DC8C}"/>
              </c:ext>
            </c:extLst>
          </c:dPt>
          <c:dPt>
            <c:idx val="3"/>
            <c:invertIfNegative val="0"/>
            <c:bubble3D val="0"/>
            <c:spPr>
              <a:solidFill>
                <a:srgbClr val="8B3A3A"/>
              </a:solidFill>
              <a:effectLst/>
            </c:spPr>
            <c:extLst>
              <c:ext xmlns:c16="http://schemas.microsoft.com/office/drawing/2014/chart" uri="{C3380CC4-5D6E-409C-BE32-E72D297353CC}">
                <c16:uniqueId val="{00000007-C917-4F5F-BD3C-59BBD241DC8C}"/>
              </c:ext>
            </c:extLst>
          </c:dPt>
          <c:cat>
            <c:strRef>
              <c:f>Sheet1!$A$2:$A$5</c:f>
              <c:strCache>
                <c:ptCount val="4"/>
                <c:pt idx="0">
                  <c:v>Clear</c:v>
                </c:pt>
                <c:pt idx="1">
                  <c:v>Mist</c:v>
                </c:pt>
                <c:pt idx="2">
                  <c:v>Light Rain</c:v>
                </c:pt>
                <c:pt idx="3">
                  <c:v>Heavy Rain</c:v>
                </c:pt>
              </c:strCache>
            </c:strRef>
          </c:cat>
          <c:val>
            <c:numRef>
              <c:f>Sheet1!$B$2:$B$5</c:f>
              <c:numCache>
                <c:formatCode>General</c:formatCode>
                <c:ptCount val="4"/>
                <c:pt idx="0">
                  <c:v>225</c:v>
                </c:pt>
                <c:pt idx="1">
                  <c:v>200</c:v>
                </c:pt>
                <c:pt idx="2">
                  <c:v>160</c:v>
                </c:pt>
                <c:pt idx="3">
                  <c:v>110</c:v>
                </c:pt>
              </c:numCache>
            </c:numRef>
          </c:val>
          <c:extLst>
            <c:ext xmlns:c16="http://schemas.microsoft.com/office/drawing/2014/chart" uri="{C3380CC4-5D6E-409C-BE32-E72D297353CC}">
              <c16:uniqueId val="{00000008-C917-4F5F-BD3C-59BBD241DC8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0A192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B2A"/>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A896"/>
                </a:solidFill>
                <a:latin typeface="Arial"/>
              </a:defRPr>
            </a:pPr>
            <a:r>
              <a:rPr lang="en-US" sz="1000" b="0" i="0" u="none" strike="noStrike">
                <a:solidFill>
                  <a:srgbClr val="00A896"/>
                </a:solidFill>
                <a:latin typeface="Arial"/>
              </a:rPr>
              <a:t>Monthly Demand Breakdown</a:t>
            </a:r>
          </a:p>
        </c:rich>
      </c:tx>
      <c:overlay val="0"/>
    </c:title>
    <c:autoTitleDeleted val="0"/>
    <c:plotArea>
      <c:layout/>
      <c:lineChart>
        <c:grouping val="standard"/>
        <c:varyColors val="0"/>
        <c:ser>
          <c:idx val="0"/>
          <c:order val="0"/>
          <c:tx>
            <c:strRef>
              <c:f>Sheet1!$B$1</c:f>
              <c:strCache>
                <c:ptCount val="1"/>
                <c:pt idx="0">
                  <c:v>Monthly</c:v>
                </c:pt>
              </c:strCache>
            </c:strRef>
          </c:tx>
          <c:spPr>
            <a:ln w="25400" cap="flat">
              <a:solidFill>
                <a:srgbClr val="F9A825"/>
              </a:solidFill>
              <a:prstDash val="solid"/>
              <a:round/>
            </a:ln>
            <a:effectLst/>
          </c:spPr>
          <c:marker>
            <c:symbol val="circle"/>
            <c:size val="6"/>
            <c:spPr>
              <a:solidFill>
                <a:srgbClr val="F9A825"/>
              </a:solidFill>
              <a:ln w="9525" cap="flat">
                <a:solidFill>
                  <a:srgbClr val="F9A825"/>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175</c:v>
                </c:pt>
                <c:pt idx="1">
                  <c:v>178</c:v>
                </c:pt>
                <c:pt idx="2">
                  <c:v>200</c:v>
                </c:pt>
                <c:pt idx="3">
                  <c:v>225</c:v>
                </c:pt>
                <c:pt idx="4">
                  <c:v>260</c:v>
                </c:pt>
                <c:pt idx="5">
                  <c:v>265</c:v>
                </c:pt>
                <c:pt idx="6">
                  <c:v>255</c:v>
                </c:pt>
                <c:pt idx="7">
                  <c:v>250</c:v>
                </c:pt>
                <c:pt idx="8">
                  <c:v>240</c:v>
                </c:pt>
                <c:pt idx="9">
                  <c:v>220</c:v>
                </c:pt>
                <c:pt idx="10">
                  <c:v>190</c:v>
                </c:pt>
                <c:pt idx="11">
                  <c:v>170</c:v>
                </c:pt>
              </c:numCache>
            </c:numRef>
          </c:val>
          <c:smooth val="1"/>
          <c:extLst>
            <c:ext xmlns:c16="http://schemas.microsoft.com/office/drawing/2014/chart" uri="{C3380CC4-5D6E-409C-BE32-E72D297353CC}">
              <c16:uniqueId val="{00000000-6323-4FD4-88F7-7F9E93FB6B3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0A192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B2A"/>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A896"/>
                </a:solidFill>
                <a:latin typeface="Arial"/>
              </a:defRPr>
            </a:pPr>
            <a:r>
              <a:rPr lang="en-US" sz="1000" b="0" i="0" u="none" strike="noStrike">
                <a:solidFill>
                  <a:srgbClr val="00A896"/>
                </a:solidFill>
                <a:latin typeface="Arial"/>
              </a:rPr>
              <a:t>AM vs PM</a:t>
            </a:r>
          </a:p>
        </c:rich>
      </c:tx>
      <c:overlay val="0"/>
    </c:title>
    <c:autoTitleDeleted val="0"/>
    <c:plotArea>
      <c:layout/>
      <c:doughnutChart>
        <c:varyColors val="1"/>
        <c:ser>
          <c:idx val="0"/>
          <c:order val="0"/>
          <c:tx>
            <c:strRef>
              <c:f>Sheet1!$B$1</c:f>
              <c:strCache>
                <c:ptCount val="1"/>
                <c:pt idx="0">
                  <c:v>Period</c:v>
                </c:pt>
              </c:strCache>
            </c:strRef>
          </c:tx>
          <c:spPr>
            <a:solidFill>
              <a:schemeClr val="accent1"/>
            </a:solidFill>
            <a:ln w="9525" cap="flat">
              <a:solidFill>
                <a:srgbClr val="F9F9F9"/>
              </a:solidFill>
              <a:prstDash val="solid"/>
              <a:round/>
            </a:ln>
            <a:effectLst/>
          </c:spPr>
          <c:dPt>
            <c:idx val="0"/>
            <c:bubble3D val="0"/>
            <c:spPr>
              <a:solidFill>
                <a:srgbClr val="6D28D9"/>
              </a:solidFill>
              <a:effectLst/>
            </c:spPr>
            <c:extLst>
              <c:ext xmlns:c16="http://schemas.microsoft.com/office/drawing/2014/chart" uri="{C3380CC4-5D6E-409C-BE32-E72D297353CC}">
                <c16:uniqueId val="{00000001-DA6B-478B-BEF2-2501FB0BD711}"/>
              </c:ext>
            </c:extLst>
          </c:dPt>
          <c:dPt>
            <c:idx val="1"/>
            <c:bubble3D val="0"/>
            <c:spPr>
              <a:solidFill>
                <a:srgbClr val="F9A825"/>
              </a:solidFill>
              <a:effectLst/>
            </c:spPr>
            <c:extLst>
              <c:ext xmlns:c16="http://schemas.microsoft.com/office/drawing/2014/chart" uri="{C3380CC4-5D6E-409C-BE32-E72D297353CC}">
                <c16:uniqueId val="{00000003-DA6B-478B-BEF2-2501FB0BD711}"/>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A6B-478B-BEF2-2501FB0BD711}"/>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A6B-478B-BEF2-2501FB0BD71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AM Period</c:v>
                </c:pt>
                <c:pt idx="1">
                  <c:v>PM Period</c:v>
                </c:pt>
              </c:strCache>
            </c:strRef>
          </c:cat>
          <c:val>
            <c:numRef>
              <c:f>Sheet1!$B$2:$B$3</c:f>
              <c:numCache>
                <c:formatCode>General</c:formatCode>
                <c:ptCount val="2"/>
                <c:pt idx="0">
                  <c:v>42</c:v>
                </c:pt>
                <c:pt idx="1">
                  <c:v>58</c:v>
                </c:pt>
              </c:numCache>
            </c:numRef>
          </c:val>
          <c:extLst>
            <c:ext xmlns:c16="http://schemas.microsoft.com/office/drawing/2014/chart" uri="{C3380CC4-5D6E-409C-BE32-E72D297353CC}">
              <c16:uniqueId val="{00000004-DA6B-478B-BEF2-2501FB0BD711}"/>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a:solidFill>
                <a:srgbClr val="607D8B"/>
              </a:solidFill>
            </a:defRPr>
          </a:pPr>
          <a:endParaRPr lang="en-US"/>
        </a:p>
      </c:txPr>
    </c:legend>
    <c:plotVisOnly val="1"/>
    <c:dispBlanksAs val="span"/>
    <c:showDLblsOverMax val="1"/>
  </c:chart>
  <c:spPr>
    <a:solidFill>
      <a:srgbClr val="0D1B2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1940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0"/>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028090">
              <a:alpha val="20000"/>
            </a:srgbClr>
          </a:solidFill>
          <a:ln/>
        </p:spPr>
      </p:sp>
      <p:sp>
        <p:nvSpPr>
          <p:cNvPr id="3" name="Shape 1"/>
          <p:cNvSpPr/>
          <p:nvPr/>
        </p:nvSpPr>
        <p:spPr>
          <a:xfrm>
            <a:off x="6858000" y="3200400"/>
            <a:ext cx="3200400" cy="3200400"/>
          </a:xfrm>
          <a:prstGeom prst="ellipse">
            <a:avLst/>
          </a:prstGeom>
          <a:solidFill>
            <a:srgbClr val="00A896">
              <a:alpha val="15000"/>
            </a:srgbClr>
          </a:solidFill>
          <a:ln/>
        </p:spPr>
      </p:sp>
      <p:sp>
        <p:nvSpPr>
          <p:cNvPr id="4" name="Shape 2"/>
          <p:cNvSpPr/>
          <p:nvPr/>
        </p:nvSpPr>
        <p:spPr>
          <a:xfrm>
            <a:off x="0" y="0"/>
            <a:ext cx="5029200" cy="5143500"/>
          </a:xfrm>
          <a:prstGeom prst="rect">
            <a:avLst/>
          </a:prstGeom>
          <a:solidFill>
            <a:srgbClr val="0D1B2A"/>
          </a:solidFill>
          <a:ln/>
        </p:spPr>
      </p:sp>
      <p:sp>
        <p:nvSpPr>
          <p:cNvPr id="5" name="Shape 3"/>
          <p:cNvSpPr/>
          <p:nvPr/>
        </p:nvSpPr>
        <p:spPr>
          <a:xfrm>
            <a:off x="0" y="0"/>
            <a:ext cx="91440" cy="5143500"/>
          </a:xfrm>
          <a:prstGeom prst="rect">
            <a:avLst/>
          </a:prstGeom>
          <a:solidFill>
            <a:srgbClr val="028090"/>
          </a:solidFill>
          <a:ln/>
        </p:spPr>
      </p:sp>
      <p:pic>
        <p:nvPicPr>
          <p:cNvPr id="6" name="Image 0" descr="preencoded.png"/>
          <p:cNvPicPr>
            <a:picLocks noChangeAspect="1"/>
          </p:cNvPicPr>
          <p:nvPr/>
        </p:nvPicPr>
        <p:blipFill>
          <a:blip r:embed="rId3"/>
          <a:stretch>
            <a:fillRect/>
          </a:stretch>
        </p:blipFill>
        <p:spPr>
          <a:xfrm>
            <a:off x="365760" y="274320"/>
            <a:ext cx="822960" cy="548640"/>
          </a:xfrm>
          <a:prstGeom prst="rect">
            <a:avLst/>
          </a:prstGeom>
        </p:spPr>
      </p:pic>
      <p:sp>
        <p:nvSpPr>
          <p:cNvPr id="7" name="Text 4"/>
          <p:cNvSpPr/>
          <p:nvPr/>
        </p:nvSpPr>
        <p:spPr>
          <a:xfrm>
            <a:off x="274320" y="914400"/>
            <a:ext cx="4572000" cy="6858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Ola Bike Ride Request</a:t>
            </a:r>
            <a:endParaRPr lang="en-US" sz="2800" dirty="0"/>
          </a:p>
        </p:txBody>
      </p:sp>
      <p:sp>
        <p:nvSpPr>
          <p:cNvPr id="8" name="Text 5"/>
          <p:cNvSpPr/>
          <p:nvPr/>
        </p:nvSpPr>
        <p:spPr>
          <a:xfrm>
            <a:off x="274320" y="1554480"/>
            <a:ext cx="4572000" cy="548640"/>
          </a:xfrm>
          <a:prstGeom prst="rect">
            <a:avLst/>
          </a:prstGeom>
          <a:noFill/>
          <a:ln/>
        </p:spPr>
        <p:txBody>
          <a:bodyPr wrap="square" lIns="0" tIns="0" rIns="0" bIns="0" rtlCol="0" anchor="ctr"/>
          <a:lstStyle/>
          <a:p>
            <a:pPr marL="0" indent="0">
              <a:buNone/>
            </a:pPr>
            <a:r>
              <a:rPr lang="en-US" sz="2000" b="1" dirty="0">
                <a:solidFill>
                  <a:srgbClr val="00A896"/>
                </a:solidFill>
                <a:latin typeface="Calibri" pitchFamily="34" charset="0"/>
                <a:ea typeface="Calibri" pitchFamily="34" charset="-122"/>
                <a:cs typeface="Calibri" pitchFamily="34" charset="-120"/>
              </a:rPr>
              <a:t>Forecast using Machine Learning</a:t>
            </a:r>
            <a:endParaRPr lang="en-US" sz="2000" dirty="0"/>
          </a:p>
        </p:txBody>
      </p:sp>
      <p:sp>
        <p:nvSpPr>
          <p:cNvPr id="9" name="Shape 6"/>
          <p:cNvSpPr/>
          <p:nvPr/>
        </p:nvSpPr>
        <p:spPr>
          <a:xfrm>
            <a:off x="274320" y="2194560"/>
            <a:ext cx="4114800" cy="36576"/>
          </a:xfrm>
          <a:prstGeom prst="rect">
            <a:avLst/>
          </a:prstGeom>
          <a:solidFill>
            <a:srgbClr val="02C39A"/>
          </a:solidFill>
          <a:ln/>
        </p:spPr>
      </p:sp>
      <p:sp>
        <p:nvSpPr>
          <p:cNvPr id="10" name="Text 7"/>
          <p:cNvSpPr/>
          <p:nvPr/>
        </p:nvSpPr>
        <p:spPr>
          <a:xfrm>
            <a:off x="274320" y="2331720"/>
            <a:ext cx="4572000" cy="320040"/>
          </a:xfrm>
          <a:prstGeom prst="rect">
            <a:avLst/>
          </a:prstGeom>
          <a:noFill/>
          <a:ln/>
        </p:spPr>
        <p:txBody>
          <a:bodyPr wrap="square" lIns="0" tIns="0" rIns="0" bIns="0" rtlCol="0" anchor="ctr"/>
          <a:lstStyle/>
          <a:p>
            <a:pPr marL="0" indent="0">
              <a:buNone/>
            </a:pPr>
            <a:r>
              <a:rPr lang="en-US" sz="1000" i="1" dirty="0">
                <a:solidFill>
                  <a:srgbClr val="B0C4CE"/>
                </a:solidFill>
                <a:latin typeface="Calibri" pitchFamily="34" charset="0"/>
                <a:ea typeface="Calibri" pitchFamily="34" charset="-122"/>
                <a:cs typeface="Calibri" pitchFamily="34" charset="-120"/>
              </a:rPr>
              <a:t>Machine Learning Final Project Report · Lovely Professional University, Punjab, India</a:t>
            </a:r>
            <a:endParaRPr lang="en-US" sz="1000" dirty="0"/>
          </a:p>
        </p:txBody>
      </p:sp>
      <p:sp>
        <p:nvSpPr>
          <p:cNvPr id="11" name="Text 8"/>
          <p:cNvSpPr/>
          <p:nvPr/>
        </p:nvSpPr>
        <p:spPr>
          <a:xfrm>
            <a:off x="274320" y="2697480"/>
            <a:ext cx="4572000" cy="274320"/>
          </a:xfrm>
          <a:prstGeom prst="rect">
            <a:avLst/>
          </a:prstGeom>
          <a:noFill/>
          <a:ln/>
        </p:spPr>
        <p:txBody>
          <a:bodyPr wrap="square" lIns="0" tIns="0" rIns="0" bIns="0" rtlCol="0" anchor="ctr"/>
          <a:lstStyle/>
          <a:p>
            <a:pPr marL="0" indent="0">
              <a:buNone/>
            </a:pPr>
            <a:r>
              <a:rPr lang="en-US" sz="900" b="1" kern="0" spc="150" dirty="0">
                <a:solidFill>
                  <a:srgbClr val="02C39A"/>
                </a:solidFill>
                <a:latin typeface="Calibri" pitchFamily="34" charset="0"/>
                <a:ea typeface="Calibri" pitchFamily="34" charset="-122"/>
                <a:cs typeface="Calibri" pitchFamily="34" charset="-120"/>
              </a:rPr>
              <a:t>B.TECH · COMPUTER SCIENCE &amp; ENGINEERING · MAY 2026</a:t>
            </a:r>
            <a:endParaRPr lang="en-US" sz="900" dirty="0"/>
          </a:p>
        </p:txBody>
      </p:sp>
      <p:sp>
        <p:nvSpPr>
          <p:cNvPr id="12" name="Text 9"/>
          <p:cNvSpPr/>
          <p:nvPr/>
        </p:nvSpPr>
        <p:spPr>
          <a:xfrm>
            <a:off x="274320" y="3154680"/>
            <a:ext cx="4572000" cy="685800"/>
          </a:xfrm>
          <a:prstGeom prst="rect">
            <a:avLst/>
          </a:prstGeom>
          <a:noFill/>
          <a:ln/>
        </p:spPr>
        <p:txBody>
          <a:bodyPr wrap="square" lIns="0" tIns="0" rIns="0" bIns="0" rtlCol="0" anchor="ctr"/>
          <a:lstStyle/>
          <a:p>
            <a:pPr marL="0" indent="0">
              <a:buNone/>
            </a:pPr>
            <a:r>
              <a:rPr lang="en-US" sz="1100" dirty="0">
                <a:solidFill>
                  <a:srgbClr val="B0C4CE"/>
                </a:solidFill>
                <a:latin typeface="Calibri" pitchFamily="34" charset="0"/>
                <a:ea typeface="Calibri" pitchFamily="34" charset="-122"/>
                <a:cs typeface="Calibri" pitchFamily="34" charset="-120"/>
              </a:rPr>
              <a:t>Submitted by: </a:t>
            </a:r>
            <a:r>
              <a:rPr lang="en-US" sz="1100" b="1" dirty="0">
                <a:solidFill>
                  <a:srgbClr val="FFFFFF"/>
                </a:solidFill>
                <a:latin typeface="Calibri" pitchFamily="34" charset="0"/>
                <a:ea typeface="Calibri" pitchFamily="34" charset="-122"/>
                <a:cs typeface="Calibri" pitchFamily="34" charset="-120"/>
              </a:rPr>
              <a:t>K.Vishnu Vardhan Reddy</a:t>
            </a:r>
            <a:r>
              <a:rPr lang="en-US" sz="1100" dirty="0">
                <a:solidFill>
                  <a:srgbClr val="B0C4CE"/>
                </a:solidFill>
                <a:latin typeface="Calibri" pitchFamily="34" charset="0"/>
                <a:ea typeface="Calibri" pitchFamily="34" charset="-122"/>
                <a:cs typeface="Calibri" pitchFamily="34" charset="-120"/>
              </a:rPr>
              <a:t> · Reg No: 12311975</a:t>
            </a:r>
            <a:endParaRPr lang="en-US" sz="1100" dirty="0"/>
          </a:p>
          <a:p>
            <a:pPr marL="0" indent="0">
              <a:buNone/>
            </a:pPr>
            <a:r>
              <a:rPr lang="en-US" sz="1100" dirty="0">
                <a:solidFill>
                  <a:srgbClr val="B0C4CE"/>
                </a:solidFill>
                <a:latin typeface="Calibri" pitchFamily="34" charset="0"/>
                <a:ea typeface="Calibri" pitchFamily="34" charset="-122"/>
                <a:cs typeface="Calibri" pitchFamily="34" charset="-120"/>
              </a:rPr>
              <a:t>Supervisor: Aiswarya Saravanam</a:t>
            </a:r>
            <a:endParaRPr lang="en-US" sz="1100" dirty="0"/>
          </a:p>
        </p:txBody>
      </p:sp>
      <p:sp>
        <p:nvSpPr>
          <p:cNvPr id="13" name="Text 10"/>
          <p:cNvSpPr/>
          <p:nvPr/>
        </p:nvSpPr>
        <p:spPr>
          <a:xfrm>
            <a:off x="5303520" y="1371600"/>
            <a:ext cx="3474720" cy="2286000"/>
          </a:xfrm>
          <a:prstGeom prst="rect">
            <a:avLst/>
          </a:prstGeom>
          <a:noFill/>
          <a:ln/>
        </p:spPr>
        <p:txBody>
          <a:bodyPr wrap="square" rtlCol="0" anchor="ctr"/>
          <a:lstStyle/>
          <a:p>
            <a:pPr marL="0" indent="0" algn="ctr">
              <a:buNone/>
            </a:pPr>
            <a:r>
              <a:rPr lang="en-US" sz="12000" dirty="0">
                <a:solidFill>
                  <a:srgbClr val="000000"/>
                </a:solidFill>
              </a:rPr>
              <a:t>🚲</a:t>
            </a:r>
            <a:endParaRPr lang="en-US" sz="1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Table of Contents</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68680"/>
            <a:ext cx="502920" cy="347472"/>
          </a:xfrm>
          <a:prstGeom prst="rect">
            <a:avLst/>
          </a:prstGeom>
          <a:solidFill>
            <a:srgbClr val="028090"/>
          </a:solidFill>
          <a:ln/>
        </p:spPr>
      </p:sp>
      <p:sp>
        <p:nvSpPr>
          <p:cNvPr id="7" name="Text 5"/>
          <p:cNvSpPr/>
          <p:nvPr/>
        </p:nvSpPr>
        <p:spPr>
          <a:xfrm>
            <a:off x="274320" y="86868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868680" y="886968"/>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Problem Statement</a:t>
            </a:r>
            <a:endParaRPr lang="en-US" sz="1200" dirty="0"/>
          </a:p>
        </p:txBody>
      </p:sp>
      <p:sp>
        <p:nvSpPr>
          <p:cNvPr id="9" name="Shape 7"/>
          <p:cNvSpPr/>
          <p:nvPr/>
        </p:nvSpPr>
        <p:spPr>
          <a:xfrm>
            <a:off x="274320" y="1362456"/>
            <a:ext cx="502920" cy="347472"/>
          </a:xfrm>
          <a:prstGeom prst="rect">
            <a:avLst/>
          </a:prstGeom>
          <a:solidFill>
            <a:srgbClr val="028090"/>
          </a:solidFill>
          <a:ln/>
        </p:spPr>
      </p:sp>
      <p:sp>
        <p:nvSpPr>
          <p:cNvPr id="10" name="Text 8"/>
          <p:cNvSpPr/>
          <p:nvPr/>
        </p:nvSpPr>
        <p:spPr>
          <a:xfrm>
            <a:off x="274320" y="1362456"/>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868680" y="1380744"/>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Introduction &amp; Objectives</a:t>
            </a:r>
            <a:endParaRPr lang="en-US" sz="1200" dirty="0"/>
          </a:p>
        </p:txBody>
      </p:sp>
      <p:sp>
        <p:nvSpPr>
          <p:cNvPr id="12" name="Shape 10"/>
          <p:cNvSpPr/>
          <p:nvPr/>
        </p:nvSpPr>
        <p:spPr>
          <a:xfrm>
            <a:off x="274320" y="1856232"/>
            <a:ext cx="502920" cy="347472"/>
          </a:xfrm>
          <a:prstGeom prst="rect">
            <a:avLst/>
          </a:prstGeom>
          <a:solidFill>
            <a:srgbClr val="028090"/>
          </a:solidFill>
          <a:ln/>
        </p:spPr>
      </p:sp>
      <p:sp>
        <p:nvSpPr>
          <p:cNvPr id="13" name="Text 11"/>
          <p:cNvSpPr/>
          <p:nvPr/>
        </p:nvSpPr>
        <p:spPr>
          <a:xfrm>
            <a:off x="274320" y="185623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868680" y="1874520"/>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Scope</a:t>
            </a:r>
            <a:endParaRPr lang="en-US" sz="1200" dirty="0"/>
          </a:p>
        </p:txBody>
      </p:sp>
      <p:sp>
        <p:nvSpPr>
          <p:cNvPr id="15" name="Shape 13"/>
          <p:cNvSpPr/>
          <p:nvPr/>
        </p:nvSpPr>
        <p:spPr>
          <a:xfrm>
            <a:off x="274320" y="2350008"/>
            <a:ext cx="502920" cy="347472"/>
          </a:xfrm>
          <a:prstGeom prst="rect">
            <a:avLst/>
          </a:prstGeom>
          <a:solidFill>
            <a:srgbClr val="028090"/>
          </a:solidFill>
          <a:ln/>
        </p:spPr>
      </p:sp>
      <p:sp>
        <p:nvSpPr>
          <p:cNvPr id="16" name="Text 14"/>
          <p:cNvSpPr/>
          <p:nvPr/>
        </p:nvSpPr>
        <p:spPr>
          <a:xfrm>
            <a:off x="274320" y="2350008"/>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7" name="Text 15"/>
          <p:cNvSpPr/>
          <p:nvPr/>
        </p:nvSpPr>
        <p:spPr>
          <a:xfrm>
            <a:off x="868680" y="2368296"/>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Literature Review</a:t>
            </a:r>
            <a:endParaRPr lang="en-US" sz="1200" dirty="0"/>
          </a:p>
        </p:txBody>
      </p:sp>
      <p:sp>
        <p:nvSpPr>
          <p:cNvPr id="18" name="Shape 16"/>
          <p:cNvSpPr/>
          <p:nvPr/>
        </p:nvSpPr>
        <p:spPr>
          <a:xfrm>
            <a:off x="274320" y="2843784"/>
            <a:ext cx="502920" cy="347472"/>
          </a:xfrm>
          <a:prstGeom prst="rect">
            <a:avLst/>
          </a:prstGeom>
          <a:solidFill>
            <a:srgbClr val="028090"/>
          </a:solidFill>
          <a:ln/>
        </p:spPr>
      </p:sp>
      <p:sp>
        <p:nvSpPr>
          <p:cNvPr id="19" name="Text 17"/>
          <p:cNvSpPr/>
          <p:nvPr/>
        </p:nvSpPr>
        <p:spPr>
          <a:xfrm>
            <a:off x="274320" y="2843784"/>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0" name="Text 18"/>
          <p:cNvSpPr/>
          <p:nvPr/>
        </p:nvSpPr>
        <p:spPr>
          <a:xfrm>
            <a:off x="868680" y="2862072"/>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Dataset Overview</a:t>
            </a:r>
            <a:endParaRPr lang="en-US" sz="1200" dirty="0"/>
          </a:p>
        </p:txBody>
      </p:sp>
      <p:sp>
        <p:nvSpPr>
          <p:cNvPr id="21" name="Shape 19"/>
          <p:cNvSpPr/>
          <p:nvPr/>
        </p:nvSpPr>
        <p:spPr>
          <a:xfrm>
            <a:off x="274320" y="3337560"/>
            <a:ext cx="502920" cy="347472"/>
          </a:xfrm>
          <a:prstGeom prst="rect">
            <a:avLst/>
          </a:prstGeom>
          <a:solidFill>
            <a:srgbClr val="028090"/>
          </a:solidFill>
          <a:ln/>
        </p:spPr>
      </p:sp>
      <p:sp>
        <p:nvSpPr>
          <p:cNvPr id="22" name="Text 20"/>
          <p:cNvSpPr/>
          <p:nvPr/>
        </p:nvSpPr>
        <p:spPr>
          <a:xfrm>
            <a:off x="274320" y="333756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3" name="Text 21"/>
          <p:cNvSpPr/>
          <p:nvPr/>
        </p:nvSpPr>
        <p:spPr>
          <a:xfrm>
            <a:off x="868680" y="3355848"/>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Data Preprocessing</a:t>
            </a:r>
            <a:endParaRPr lang="en-US" sz="1200" dirty="0"/>
          </a:p>
        </p:txBody>
      </p:sp>
      <p:sp>
        <p:nvSpPr>
          <p:cNvPr id="24" name="Shape 22"/>
          <p:cNvSpPr/>
          <p:nvPr/>
        </p:nvSpPr>
        <p:spPr>
          <a:xfrm>
            <a:off x="274320" y="3831336"/>
            <a:ext cx="502920" cy="347472"/>
          </a:xfrm>
          <a:prstGeom prst="rect">
            <a:avLst/>
          </a:prstGeom>
          <a:solidFill>
            <a:srgbClr val="028090"/>
          </a:solidFill>
          <a:ln/>
        </p:spPr>
      </p:sp>
      <p:sp>
        <p:nvSpPr>
          <p:cNvPr id="25" name="Text 23"/>
          <p:cNvSpPr/>
          <p:nvPr/>
        </p:nvSpPr>
        <p:spPr>
          <a:xfrm>
            <a:off x="274320" y="3831336"/>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6" name="Text 24"/>
          <p:cNvSpPr/>
          <p:nvPr/>
        </p:nvSpPr>
        <p:spPr>
          <a:xfrm>
            <a:off x="868680" y="3849624"/>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Exploratory Data Analysis</a:t>
            </a:r>
            <a:endParaRPr lang="en-US" sz="1200" dirty="0"/>
          </a:p>
        </p:txBody>
      </p:sp>
      <p:sp>
        <p:nvSpPr>
          <p:cNvPr id="27" name="Shape 25"/>
          <p:cNvSpPr/>
          <p:nvPr/>
        </p:nvSpPr>
        <p:spPr>
          <a:xfrm>
            <a:off x="274320" y="4325112"/>
            <a:ext cx="502920" cy="347472"/>
          </a:xfrm>
          <a:prstGeom prst="rect">
            <a:avLst/>
          </a:prstGeom>
          <a:solidFill>
            <a:srgbClr val="028090"/>
          </a:solidFill>
          <a:ln/>
        </p:spPr>
      </p:sp>
      <p:sp>
        <p:nvSpPr>
          <p:cNvPr id="28" name="Text 26"/>
          <p:cNvSpPr/>
          <p:nvPr/>
        </p:nvSpPr>
        <p:spPr>
          <a:xfrm>
            <a:off x="274320" y="432511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9" name="Text 27"/>
          <p:cNvSpPr/>
          <p:nvPr/>
        </p:nvSpPr>
        <p:spPr>
          <a:xfrm>
            <a:off x="868680" y="4343400"/>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Machine Learning Algorithms</a:t>
            </a:r>
            <a:endParaRPr lang="en-US" sz="1200" dirty="0"/>
          </a:p>
        </p:txBody>
      </p:sp>
      <p:sp>
        <p:nvSpPr>
          <p:cNvPr id="30" name="Shape 28"/>
          <p:cNvSpPr/>
          <p:nvPr/>
        </p:nvSpPr>
        <p:spPr>
          <a:xfrm>
            <a:off x="4754880" y="868680"/>
            <a:ext cx="502920" cy="347472"/>
          </a:xfrm>
          <a:prstGeom prst="rect">
            <a:avLst/>
          </a:prstGeom>
          <a:solidFill>
            <a:srgbClr val="028090"/>
          </a:solidFill>
          <a:ln/>
        </p:spPr>
      </p:sp>
      <p:sp>
        <p:nvSpPr>
          <p:cNvPr id="31" name="Text 29"/>
          <p:cNvSpPr/>
          <p:nvPr/>
        </p:nvSpPr>
        <p:spPr>
          <a:xfrm>
            <a:off x="4754880" y="86868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2" name="Text 30"/>
          <p:cNvSpPr/>
          <p:nvPr/>
        </p:nvSpPr>
        <p:spPr>
          <a:xfrm>
            <a:off x="5349240" y="886968"/>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Model Training</a:t>
            </a:r>
            <a:endParaRPr lang="en-US" sz="1200" dirty="0"/>
          </a:p>
        </p:txBody>
      </p:sp>
      <p:sp>
        <p:nvSpPr>
          <p:cNvPr id="33" name="Shape 31"/>
          <p:cNvSpPr/>
          <p:nvPr/>
        </p:nvSpPr>
        <p:spPr>
          <a:xfrm>
            <a:off x="4754880" y="1362456"/>
            <a:ext cx="502920" cy="347472"/>
          </a:xfrm>
          <a:prstGeom prst="rect">
            <a:avLst/>
          </a:prstGeom>
          <a:solidFill>
            <a:srgbClr val="028090"/>
          </a:solidFill>
          <a:ln/>
        </p:spPr>
      </p:sp>
      <p:sp>
        <p:nvSpPr>
          <p:cNvPr id="34" name="Text 32"/>
          <p:cNvSpPr/>
          <p:nvPr/>
        </p:nvSpPr>
        <p:spPr>
          <a:xfrm>
            <a:off x="4754880" y="1362456"/>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5" name="Text 33"/>
          <p:cNvSpPr/>
          <p:nvPr/>
        </p:nvSpPr>
        <p:spPr>
          <a:xfrm>
            <a:off x="5349240" y="1380744"/>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Evaluation Metrics</a:t>
            </a:r>
            <a:endParaRPr lang="en-US" sz="1200" dirty="0"/>
          </a:p>
        </p:txBody>
      </p:sp>
      <p:sp>
        <p:nvSpPr>
          <p:cNvPr id="36" name="Shape 34"/>
          <p:cNvSpPr/>
          <p:nvPr/>
        </p:nvSpPr>
        <p:spPr>
          <a:xfrm>
            <a:off x="4754880" y="1856232"/>
            <a:ext cx="502920" cy="347472"/>
          </a:xfrm>
          <a:prstGeom prst="rect">
            <a:avLst/>
          </a:prstGeom>
          <a:solidFill>
            <a:srgbClr val="028090"/>
          </a:solidFill>
          <a:ln/>
        </p:spPr>
      </p:sp>
      <p:sp>
        <p:nvSpPr>
          <p:cNvPr id="37" name="Text 35"/>
          <p:cNvSpPr/>
          <p:nvPr/>
        </p:nvSpPr>
        <p:spPr>
          <a:xfrm>
            <a:off x="4754880" y="185623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8" name="Text 36"/>
          <p:cNvSpPr/>
          <p:nvPr/>
        </p:nvSpPr>
        <p:spPr>
          <a:xfrm>
            <a:off x="5349240" y="1874520"/>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Comparative Analysis</a:t>
            </a:r>
            <a:endParaRPr lang="en-US" sz="1200" dirty="0"/>
          </a:p>
        </p:txBody>
      </p:sp>
      <p:sp>
        <p:nvSpPr>
          <p:cNvPr id="39" name="Shape 37"/>
          <p:cNvSpPr/>
          <p:nvPr/>
        </p:nvSpPr>
        <p:spPr>
          <a:xfrm>
            <a:off x="4754880" y="2350008"/>
            <a:ext cx="502920" cy="347472"/>
          </a:xfrm>
          <a:prstGeom prst="rect">
            <a:avLst/>
          </a:prstGeom>
          <a:solidFill>
            <a:srgbClr val="028090"/>
          </a:solidFill>
          <a:ln/>
        </p:spPr>
      </p:sp>
      <p:sp>
        <p:nvSpPr>
          <p:cNvPr id="40" name="Text 38"/>
          <p:cNvSpPr/>
          <p:nvPr/>
        </p:nvSpPr>
        <p:spPr>
          <a:xfrm>
            <a:off x="4754880" y="2350008"/>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41" name="Text 39"/>
          <p:cNvSpPr/>
          <p:nvPr/>
        </p:nvSpPr>
        <p:spPr>
          <a:xfrm>
            <a:off x="5349240" y="2368296"/>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Results &amp; Performance</a:t>
            </a:r>
            <a:endParaRPr lang="en-US" sz="1200" dirty="0"/>
          </a:p>
        </p:txBody>
      </p:sp>
      <p:sp>
        <p:nvSpPr>
          <p:cNvPr id="42" name="Shape 40"/>
          <p:cNvSpPr/>
          <p:nvPr/>
        </p:nvSpPr>
        <p:spPr>
          <a:xfrm>
            <a:off x="4754880" y="2843784"/>
            <a:ext cx="502920" cy="347472"/>
          </a:xfrm>
          <a:prstGeom prst="rect">
            <a:avLst/>
          </a:prstGeom>
          <a:solidFill>
            <a:srgbClr val="028090"/>
          </a:solidFill>
          <a:ln/>
        </p:spPr>
      </p:sp>
      <p:sp>
        <p:nvSpPr>
          <p:cNvPr id="43" name="Text 41"/>
          <p:cNvSpPr/>
          <p:nvPr/>
        </p:nvSpPr>
        <p:spPr>
          <a:xfrm>
            <a:off x="4754880" y="2843784"/>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44" name="Text 42"/>
          <p:cNvSpPr/>
          <p:nvPr/>
        </p:nvSpPr>
        <p:spPr>
          <a:xfrm>
            <a:off x="5349240" y="2862072"/>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Dashboard</a:t>
            </a:r>
            <a:endParaRPr lang="en-US" sz="1200" dirty="0"/>
          </a:p>
        </p:txBody>
      </p:sp>
      <p:sp>
        <p:nvSpPr>
          <p:cNvPr id="45" name="Shape 43"/>
          <p:cNvSpPr/>
          <p:nvPr/>
        </p:nvSpPr>
        <p:spPr>
          <a:xfrm>
            <a:off x="4754880" y="3337560"/>
            <a:ext cx="502920" cy="347472"/>
          </a:xfrm>
          <a:prstGeom prst="rect">
            <a:avLst/>
          </a:prstGeom>
          <a:solidFill>
            <a:srgbClr val="028090"/>
          </a:solidFill>
          <a:ln/>
        </p:spPr>
      </p:sp>
      <p:sp>
        <p:nvSpPr>
          <p:cNvPr id="46" name="Text 44"/>
          <p:cNvSpPr/>
          <p:nvPr/>
        </p:nvSpPr>
        <p:spPr>
          <a:xfrm>
            <a:off x="4754880" y="333756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47" name="Text 45"/>
          <p:cNvSpPr/>
          <p:nvPr/>
        </p:nvSpPr>
        <p:spPr>
          <a:xfrm>
            <a:off x="5349240" y="3355848"/>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Conclusion</a:t>
            </a:r>
            <a:endParaRPr lang="en-US" sz="1200" dirty="0"/>
          </a:p>
        </p:txBody>
      </p:sp>
      <p:sp>
        <p:nvSpPr>
          <p:cNvPr id="48" name="Shape 46"/>
          <p:cNvSpPr/>
          <p:nvPr/>
        </p:nvSpPr>
        <p:spPr>
          <a:xfrm>
            <a:off x="4754880" y="3831336"/>
            <a:ext cx="502920" cy="347472"/>
          </a:xfrm>
          <a:prstGeom prst="rect">
            <a:avLst/>
          </a:prstGeom>
          <a:solidFill>
            <a:srgbClr val="028090"/>
          </a:solidFill>
          <a:ln/>
        </p:spPr>
      </p:sp>
      <p:sp>
        <p:nvSpPr>
          <p:cNvPr id="49" name="Text 47"/>
          <p:cNvSpPr/>
          <p:nvPr/>
        </p:nvSpPr>
        <p:spPr>
          <a:xfrm>
            <a:off x="4754880" y="3831336"/>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50" name="Text 48"/>
          <p:cNvSpPr/>
          <p:nvPr/>
        </p:nvSpPr>
        <p:spPr>
          <a:xfrm>
            <a:off x="5349240" y="3849624"/>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Future Work</a:t>
            </a:r>
            <a:endParaRPr lang="en-US" sz="1200" dirty="0"/>
          </a:p>
        </p:txBody>
      </p:sp>
      <p:sp>
        <p:nvSpPr>
          <p:cNvPr id="51" name="Shape 49"/>
          <p:cNvSpPr/>
          <p:nvPr/>
        </p:nvSpPr>
        <p:spPr>
          <a:xfrm>
            <a:off x="4754880" y="4325112"/>
            <a:ext cx="502920" cy="347472"/>
          </a:xfrm>
          <a:prstGeom prst="rect">
            <a:avLst/>
          </a:prstGeom>
          <a:solidFill>
            <a:srgbClr val="028090"/>
          </a:solidFill>
          <a:ln/>
        </p:spPr>
      </p:sp>
      <p:sp>
        <p:nvSpPr>
          <p:cNvPr id="52" name="Text 50"/>
          <p:cNvSpPr/>
          <p:nvPr/>
        </p:nvSpPr>
        <p:spPr>
          <a:xfrm>
            <a:off x="4754880" y="432511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53" name="Text 51"/>
          <p:cNvSpPr/>
          <p:nvPr/>
        </p:nvSpPr>
        <p:spPr>
          <a:xfrm>
            <a:off x="5349240" y="4343400"/>
            <a:ext cx="3566160" cy="320040"/>
          </a:xfrm>
          <a:prstGeom prst="rect">
            <a:avLst/>
          </a:prstGeom>
          <a:noFill/>
          <a:ln/>
        </p:spPr>
        <p:txBody>
          <a:bodyPr wrap="square" lIns="0" tIns="0" rIns="0" bIns="0" rtlCol="0" anchor="ctr"/>
          <a:lstStyle/>
          <a:p>
            <a:pPr marL="0" indent="0">
              <a:buNone/>
            </a:pPr>
            <a:r>
              <a:rPr lang="en-US" sz="1200" dirty="0">
                <a:solidFill>
                  <a:srgbClr val="E8F4F8"/>
                </a:solidFill>
                <a:latin typeface="Calibri" pitchFamily="34" charset="0"/>
                <a:ea typeface="Calibri" pitchFamily="34" charset="-122"/>
                <a:cs typeface="Calibri" pitchFamily="34" charset="-120"/>
              </a:rPr>
              <a:t>References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Problem Statement</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47264"/>
            <a:ext cx="2788920" cy="35661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274320" y="841248"/>
            <a:ext cx="2788920" cy="411480"/>
          </a:xfrm>
          <a:prstGeom prst="rect">
            <a:avLst/>
          </a:prstGeom>
          <a:solidFill>
            <a:srgbClr val="028090"/>
          </a:solidFill>
          <a:ln/>
        </p:spPr>
      </p:sp>
      <p:sp>
        <p:nvSpPr>
          <p:cNvPr id="8" name="Text 6"/>
          <p:cNvSpPr/>
          <p:nvPr/>
        </p:nvSpPr>
        <p:spPr>
          <a:xfrm>
            <a:off x="274320" y="841248"/>
            <a:ext cx="2788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Challenge</a:t>
            </a:r>
            <a:endParaRPr lang="en-US" sz="1300" dirty="0"/>
          </a:p>
        </p:txBody>
      </p:sp>
      <p:sp>
        <p:nvSpPr>
          <p:cNvPr id="9" name="Text 7"/>
          <p:cNvSpPr/>
          <p:nvPr/>
        </p:nvSpPr>
        <p:spPr>
          <a:xfrm>
            <a:off x="411480" y="1353312"/>
            <a:ext cx="2514600" cy="2926080"/>
          </a:xfrm>
          <a:prstGeom prst="rect">
            <a:avLst/>
          </a:prstGeom>
          <a:noFill/>
          <a:ln/>
        </p:spPr>
        <p:txBody>
          <a:bodyPr wrap="square" lIns="0" tIns="0" rIns="0" bIns="0" rtlCol="0" anchor="t"/>
          <a:lstStyle/>
          <a:p>
            <a:pPr marL="0" indent="0">
              <a:buNone/>
            </a:pPr>
            <a:r>
              <a:rPr lang="en-US" sz="1150" dirty="0">
                <a:solidFill>
                  <a:srgbClr val="E8F4F8"/>
                </a:solidFill>
                <a:latin typeface="Calibri" pitchFamily="34" charset="0"/>
                <a:ea typeface="Calibri" pitchFamily="34" charset="-122"/>
                <a:cs typeface="Calibri" pitchFamily="34" charset="-120"/>
              </a:rPr>
              <a:t>Ride requests vary with weather, temperature, humidity, seasons, holidays and time. This makes fleet allocation complex and demand prediction difficult.</a:t>
            </a:r>
            <a:endParaRPr lang="en-US" sz="1150" dirty="0"/>
          </a:p>
        </p:txBody>
      </p:sp>
      <p:sp>
        <p:nvSpPr>
          <p:cNvPr id="10" name="Shape 8"/>
          <p:cNvSpPr/>
          <p:nvPr/>
        </p:nvSpPr>
        <p:spPr>
          <a:xfrm>
            <a:off x="3200400" y="841248"/>
            <a:ext cx="2788920" cy="35661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1" name="Shape 9"/>
          <p:cNvSpPr/>
          <p:nvPr/>
        </p:nvSpPr>
        <p:spPr>
          <a:xfrm>
            <a:off x="3200400" y="841248"/>
            <a:ext cx="2788920" cy="411480"/>
          </a:xfrm>
          <a:prstGeom prst="rect">
            <a:avLst/>
          </a:prstGeom>
          <a:solidFill>
            <a:srgbClr val="028090"/>
          </a:solidFill>
          <a:ln/>
        </p:spPr>
      </p:sp>
      <p:sp>
        <p:nvSpPr>
          <p:cNvPr id="12" name="Text 10"/>
          <p:cNvSpPr/>
          <p:nvPr/>
        </p:nvSpPr>
        <p:spPr>
          <a:xfrm>
            <a:off x="3200400" y="841248"/>
            <a:ext cx="2788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Impact</a:t>
            </a:r>
            <a:endParaRPr lang="en-US" sz="1300" dirty="0"/>
          </a:p>
        </p:txBody>
      </p:sp>
      <p:sp>
        <p:nvSpPr>
          <p:cNvPr id="13" name="Text 11"/>
          <p:cNvSpPr/>
          <p:nvPr/>
        </p:nvSpPr>
        <p:spPr>
          <a:xfrm>
            <a:off x="3337560" y="1353312"/>
            <a:ext cx="2514600" cy="2926080"/>
          </a:xfrm>
          <a:prstGeom prst="rect">
            <a:avLst/>
          </a:prstGeom>
          <a:noFill/>
          <a:ln/>
        </p:spPr>
        <p:txBody>
          <a:bodyPr wrap="square" lIns="0" tIns="0" rIns="0" bIns="0" rtlCol="0" anchor="t"/>
          <a:lstStyle/>
          <a:p>
            <a:pPr marL="0" indent="0">
              <a:buNone/>
            </a:pPr>
            <a:r>
              <a:rPr lang="en-US" sz="1150" dirty="0">
                <a:solidFill>
                  <a:srgbClr val="E8F4F8"/>
                </a:solidFill>
                <a:latin typeface="Calibri" pitchFamily="34" charset="0"/>
                <a:ea typeface="Calibri" pitchFamily="34" charset="-122"/>
                <a:cs typeface="Calibri" pitchFamily="34" charset="-120"/>
              </a:rPr>
              <a:t>Underestimating demand → insufficient bikes, longer wait times, revenue loss. Overestimating → inefficient resources and increased operational costs.</a:t>
            </a:r>
            <a:endParaRPr lang="en-US" sz="1150" dirty="0"/>
          </a:p>
        </p:txBody>
      </p:sp>
      <p:sp>
        <p:nvSpPr>
          <p:cNvPr id="14" name="Shape 12"/>
          <p:cNvSpPr/>
          <p:nvPr/>
        </p:nvSpPr>
        <p:spPr>
          <a:xfrm>
            <a:off x="6126480" y="841248"/>
            <a:ext cx="2788920" cy="35661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5" name="Shape 13"/>
          <p:cNvSpPr/>
          <p:nvPr/>
        </p:nvSpPr>
        <p:spPr>
          <a:xfrm>
            <a:off x="6126480" y="841248"/>
            <a:ext cx="2788920" cy="411480"/>
          </a:xfrm>
          <a:prstGeom prst="rect">
            <a:avLst/>
          </a:prstGeom>
          <a:solidFill>
            <a:srgbClr val="028090"/>
          </a:solidFill>
          <a:ln/>
        </p:spPr>
      </p:sp>
      <p:sp>
        <p:nvSpPr>
          <p:cNvPr id="16" name="Text 14"/>
          <p:cNvSpPr/>
          <p:nvPr/>
        </p:nvSpPr>
        <p:spPr>
          <a:xfrm>
            <a:off x="6126480" y="841248"/>
            <a:ext cx="2788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Solution</a:t>
            </a:r>
            <a:endParaRPr lang="en-US" sz="1300" dirty="0"/>
          </a:p>
        </p:txBody>
      </p:sp>
      <p:sp>
        <p:nvSpPr>
          <p:cNvPr id="17" name="Text 15"/>
          <p:cNvSpPr/>
          <p:nvPr/>
        </p:nvSpPr>
        <p:spPr>
          <a:xfrm>
            <a:off x="6263640" y="1353312"/>
            <a:ext cx="2514600" cy="2926080"/>
          </a:xfrm>
          <a:prstGeom prst="rect">
            <a:avLst/>
          </a:prstGeom>
          <a:noFill/>
          <a:ln/>
        </p:spPr>
        <p:txBody>
          <a:bodyPr wrap="square" lIns="0" tIns="0" rIns="0" bIns="0" rtlCol="0" anchor="t"/>
          <a:lstStyle/>
          <a:p>
            <a:pPr marL="0" indent="0">
              <a:buNone/>
            </a:pPr>
            <a:r>
              <a:rPr lang="en-US" sz="1150" dirty="0">
                <a:solidFill>
                  <a:srgbClr val="E8F4F8"/>
                </a:solidFill>
                <a:latin typeface="Calibri" pitchFamily="34" charset="0"/>
                <a:ea typeface="Calibri" pitchFamily="34" charset="-122"/>
                <a:cs typeface="Calibri" pitchFamily="34" charset="-120"/>
              </a:rPr>
              <a:t>A data-driven ML-based system using historical ride data and environmental factors to accurately forecast bike ride requests and support fleet management.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Introduction &amp; Objectives</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04672"/>
            <a:ext cx="3840480" cy="155448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Text 5"/>
          <p:cNvSpPr/>
          <p:nvPr/>
        </p:nvSpPr>
        <p:spPr>
          <a:xfrm>
            <a:off x="411480" y="841248"/>
            <a:ext cx="356616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Introduction</a:t>
            </a:r>
            <a:endParaRPr lang="en-US" sz="1300" dirty="0"/>
          </a:p>
        </p:txBody>
      </p:sp>
      <p:sp>
        <p:nvSpPr>
          <p:cNvPr id="8" name="Text 6"/>
          <p:cNvSpPr/>
          <p:nvPr/>
        </p:nvSpPr>
        <p:spPr>
          <a:xfrm>
            <a:off x="411480" y="1170432"/>
            <a:ext cx="3566160" cy="1097280"/>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The rapid growth of ride-sharing services has increased the need for accurate ride demand prediction. Factors such as weather, temperature, humidity, seasons, holidays, and time periods significantly influence demand. This project uses ML to analyze historical Ola bike ride data and forecast future ride requests.</a:t>
            </a:r>
            <a:endParaRPr lang="en-US" sz="1100" dirty="0"/>
          </a:p>
        </p:txBody>
      </p:sp>
      <p:sp>
        <p:nvSpPr>
          <p:cNvPr id="9" name="Shape 7"/>
          <p:cNvSpPr/>
          <p:nvPr/>
        </p:nvSpPr>
        <p:spPr>
          <a:xfrm>
            <a:off x="274320" y="2487168"/>
            <a:ext cx="3840480" cy="24231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0" name="Text 8"/>
          <p:cNvSpPr/>
          <p:nvPr/>
        </p:nvSpPr>
        <p:spPr>
          <a:xfrm>
            <a:off x="411480" y="2523744"/>
            <a:ext cx="356616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Core Objectives</a:t>
            </a:r>
            <a:endParaRPr lang="en-US" sz="1300" dirty="0"/>
          </a:p>
        </p:txBody>
      </p:sp>
      <p:sp>
        <p:nvSpPr>
          <p:cNvPr id="11" name="Text 9"/>
          <p:cNvSpPr/>
          <p:nvPr/>
        </p:nvSpPr>
        <p:spPr>
          <a:xfrm>
            <a:off x="411480" y="2880360"/>
            <a:ext cx="3566160" cy="1920240"/>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1.  Develop an ML model to predict Ola bike ride requests</a:t>
            </a: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2.  Analyze season, weather, temperature, humidity, wind speed, holidays</a:t>
            </a: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3.  Optimize fleet allocation and improve operational efficiency</a:t>
            </a:r>
            <a:endParaRPr lang="en-US" sz="1100" dirty="0"/>
          </a:p>
          <a:p>
            <a:pPr marL="0" indent="0">
              <a:buNone/>
            </a:pPr>
            <a:r>
              <a:rPr lang="en-US" sz="1100" dirty="0">
                <a:solidFill>
                  <a:srgbClr val="E8F4F8"/>
                </a:solidFill>
                <a:latin typeface="Calibri" pitchFamily="34" charset="0"/>
                <a:ea typeface="Calibri" pitchFamily="34" charset="-122"/>
                <a:cs typeface="Calibri" pitchFamily="34" charset="-120"/>
              </a:rPr>
              <a:t>4.  Build an interactive analytics dashboard for visualizing trends</a:t>
            </a:r>
            <a:endParaRPr lang="en-US" sz="1100" dirty="0"/>
          </a:p>
        </p:txBody>
      </p:sp>
      <p:sp>
        <p:nvSpPr>
          <p:cNvPr id="12" name="Shape 10"/>
          <p:cNvSpPr/>
          <p:nvPr/>
        </p:nvSpPr>
        <p:spPr>
          <a:xfrm>
            <a:off x="4343400" y="804672"/>
            <a:ext cx="4526280" cy="4114800"/>
          </a:xfrm>
          <a:prstGeom prst="rect">
            <a:avLst/>
          </a:prstGeom>
          <a:solidFill>
            <a:srgbClr val="1A3045"/>
          </a:solidFill>
          <a:ln w="6350">
            <a:solidFill>
              <a:srgbClr val="028090"/>
            </a:solidFill>
            <a:prstDash val="solid"/>
          </a:ln>
          <a:effectLst>
            <a:outerShdw blurRad="101600" dist="25400" dir="8100000" algn="bl" rotWithShape="0">
              <a:srgbClr val="000000">
                <a:alpha val="30000"/>
              </a:srgbClr>
            </a:outerShdw>
          </a:effectLst>
        </p:spPr>
      </p:sp>
      <p:sp>
        <p:nvSpPr>
          <p:cNvPr id="13" name="Text 11"/>
          <p:cNvSpPr/>
          <p:nvPr/>
        </p:nvSpPr>
        <p:spPr>
          <a:xfrm>
            <a:off x="4526280" y="868680"/>
            <a:ext cx="411480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Key Project Facts</a:t>
            </a:r>
            <a:endParaRPr lang="en-US" sz="1300" dirty="0"/>
          </a:p>
        </p:txBody>
      </p:sp>
      <p:sp>
        <p:nvSpPr>
          <p:cNvPr id="14" name="Shape 12"/>
          <p:cNvSpPr/>
          <p:nvPr/>
        </p:nvSpPr>
        <p:spPr>
          <a:xfrm>
            <a:off x="4526280" y="1325880"/>
            <a:ext cx="1280160" cy="713232"/>
          </a:xfrm>
          <a:prstGeom prst="rect">
            <a:avLst/>
          </a:prstGeom>
          <a:solidFill>
            <a:srgbClr val="028090"/>
          </a:solidFill>
          <a:ln/>
        </p:spPr>
      </p:sp>
      <p:sp>
        <p:nvSpPr>
          <p:cNvPr id="15" name="Text 13"/>
          <p:cNvSpPr/>
          <p:nvPr/>
        </p:nvSpPr>
        <p:spPr>
          <a:xfrm>
            <a:off x="4526280" y="1325880"/>
            <a:ext cx="1280160"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10,886</a:t>
            </a:r>
            <a:endParaRPr lang="en-US" sz="2200" dirty="0"/>
          </a:p>
        </p:txBody>
      </p:sp>
      <p:sp>
        <p:nvSpPr>
          <p:cNvPr id="16" name="Text 14"/>
          <p:cNvSpPr/>
          <p:nvPr/>
        </p:nvSpPr>
        <p:spPr>
          <a:xfrm>
            <a:off x="5897880" y="1490472"/>
            <a:ext cx="2834640" cy="365760"/>
          </a:xfrm>
          <a:prstGeom prst="rect">
            <a:avLst/>
          </a:prstGeom>
          <a:noFill/>
          <a:ln/>
        </p:spPr>
        <p:txBody>
          <a:bodyPr wrap="square" lIns="0" tIns="0" rIns="0" bIns="0" rtlCol="0" anchor="ctr"/>
          <a:lstStyle/>
          <a:p>
            <a:pPr marL="0" indent="0">
              <a:buNone/>
            </a:pPr>
            <a:r>
              <a:rPr lang="en-US" sz="1300" dirty="0">
                <a:solidFill>
                  <a:srgbClr val="E8F4F8"/>
                </a:solidFill>
                <a:latin typeface="Calibri" pitchFamily="34" charset="0"/>
                <a:ea typeface="Calibri" pitchFamily="34" charset="-122"/>
                <a:cs typeface="Calibri" pitchFamily="34" charset="-120"/>
              </a:rPr>
              <a:t>Data Records</a:t>
            </a:r>
            <a:endParaRPr lang="en-US" sz="1300" dirty="0"/>
          </a:p>
        </p:txBody>
      </p:sp>
      <p:sp>
        <p:nvSpPr>
          <p:cNvPr id="17" name="Shape 15"/>
          <p:cNvSpPr/>
          <p:nvPr/>
        </p:nvSpPr>
        <p:spPr>
          <a:xfrm>
            <a:off x="4526280" y="2194560"/>
            <a:ext cx="1280160" cy="713232"/>
          </a:xfrm>
          <a:prstGeom prst="rect">
            <a:avLst/>
          </a:prstGeom>
          <a:solidFill>
            <a:srgbClr val="028090"/>
          </a:solidFill>
          <a:ln/>
        </p:spPr>
      </p:sp>
      <p:sp>
        <p:nvSpPr>
          <p:cNvPr id="18" name="Text 16"/>
          <p:cNvSpPr/>
          <p:nvPr/>
        </p:nvSpPr>
        <p:spPr>
          <a:xfrm>
            <a:off x="4526280" y="2194560"/>
            <a:ext cx="1280160"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13</a:t>
            </a:r>
            <a:endParaRPr lang="en-US" sz="2200" dirty="0"/>
          </a:p>
        </p:txBody>
      </p:sp>
      <p:sp>
        <p:nvSpPr>
          <p:cNvPr id="19" name="Text 17"/>
          <p:cNvSpPr/>
          <p:nvPr/>
        </p:nvSpPr>
        <p:spPr>
          <a:xfrm>
            <a:off x="5897880" y="2359152"/>
            <a:ext cx="2834640" cy="365760"/>
          </a:xfrm>
          <a:prstGeom prst="rect">
            <a:avLst/>
          </a:prstGeom>
          <a:noFill/>
          <a:ln/>
        </p:spPr>
        <p:txBody>
          <a:bodyPr wrap="square" lIns="0" tIns="0" rIns="0" bIns="0" rtlCol="0" anchor="ctr"/>
          <a:lstStyle/>
          <a:p>
            <a:pPr marL="0" indent="0">
              <a:buNone/>
            </a:pPr>
            <a:r>
              <a:rPr lang="en-US" sz="1300" dirty="0">
                <a:solidFill>
                  <a:srgbClr val="E8F4F8"/>
                </a:solidFill>
                <a:latin typeface="Calibri" pitchFamily="34" charset="0"/>
                <a:ea typeface="Calibri" pitchFamily="34" charset="-122"/>
                <a:cs typeface="Calibri" pitchFamily="34" charset="-120"/>
              </a:rPr>
              <a:t>Features</a:t>
            </a:r>
            <a:endParaRPr lang="en-US" sz="1300" dirty="0"/>
          </a:p>
        </p:txBody>
      </p:sp>
      <p:sp>
        <p:nvSpPr>
          <p:cNvPr id="20" name="Shape 18"/>
          <p:cNvSpPr/>
          <p:nvPr/>
        </p:nvSpPr>
        <p:spPr>
          <a:xfrm>
            <a:off x="4526280" y="3063240"/>
            <a:ext cx="1280160" cy="713232"/>
          </a:xfrm>
          <a:prstGeom prst="rect">
            <a:avLst/>
          </a:prstGeom>
          <a:solidFill>
            <a:srgbClr val="028090"/>
          </a:solidFill>
          <a:ln/>
        </p:spPr>
      </p:sp>
      <p:sp>
        <p:nvSpPr>
          <p:cNvPr id="21" name="Text 19"/>
          <p:cNvSpPr/>
          <p:nvPr/>
        </p:nvSpPr>
        <p:spPr>
          <a:xfrm>
            <a:off x="4526280" y="3063240"/>
            <a:ext cx="1280160"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2" name="Text 20"/>
          <p:cNvSpPr/>
          <p:nvPr/>
        </p:nvSpPr>
        <p:spPr>
          <a:xfrm>
            <a:off x="5897880" y="3227832"/>
            <a:ext cx="2834640" cy="365760"/>
          </a:xfrm>
          <a:prstGeom prst="rect">
            <a:avLst/>
          </a:prstGeom>
          <a:noFill/>
          <a:ln/>
        </p:spPr>
        <p:txBody>
          <a:bodyPr wrap="square" lIns="0" tIns="0" rIns="0" bIns="0" rtlCol="0" anchor="ctr"/>
          <a:lstStyle/>
          <a:p>
            <a:pPr marL="0" indent="0">
              <a:buNone/>
            </a:pPr>
            <a:r>
              <a:rPr lang="en-US" sz="1300" dirty="0">
                <a:solidFill>
                  <a:srgbClr val="E8F4F8"/>
                </a:solidFill>
                <a:latin typeface="Calibri" pitchFamily="34" charset="0"/>
                <a:ea typeface="Calibri" pitchFamily="34" charset="-122"/>
                <a:cs typeface="Calibri" pitchFamily="34" charset="-120"/>
              </a:rPr>
              <a:t>ML Algorithms</a:t>
            </a:r>
            <a:endParaRPr lang="en-US" sz="1300" dirty="0"/>
          </a:p>
        </p:txBody>
      </p:sp>
      <p:sp>
        <p:nvSpPr>
          <p:cNvPr id="23" name="Shape 21"/>
          <p:cNvSpPr/>
          <p:nvPr/>
        </p:nvSpPr>
        <p:spPr>
          <a:xfrm>
            <a:off x="4526280" y="3931920"/>
            <a:ext cx="1280160" cy="713232"/>
          </a:xfrm>
          <a:prstGeom prst="rect">
            <a:avLst/>
          </a:prstGeom>
          <a:solidFill>
            <a:srgbClr val="028090"/>
          </a:solidFill>
          <a:ln/>
        </p:spPr>
      </p:sp>
      <p:sp>
        <p:nvSpPr>
          <p:cNvPr id="24" name="Text 22"/>
          <p:cNvSpPr/>
          <p:nvPr/>
        </p:nvSpPr>
        <p:spPr>
          <a:xfrm>
            <a:off x="4526280" y="3931920"/>
            <a:ext cx="1280160" cy="7132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80/20</a:t>
            </a:r>
            <a:endParaRPr lang="en-US" sz="2200" dirty="0"/>
          </a:p>
        </p:txBody>
      </p:sp>
      <p:sp>
        <p:nvSpPr>
          <p:cNvPr id="25" name="Text 23"/>
          <p:cNvSpPr/>
          <p:nvPr/>
        </p:nvSpPr>
        <p:spPr>
          <a:xfrm>
            <a:off x="5897880" y="4096512"/>
            <a:ext cx="2834640" cy="365760"/>
          </a:xfrm>
          <a:prstGeom prst="rect">
            <a:avLst/>
          </a:prstGeom>
          <a:noFill/>
          <a:ln/>
        </p:spPr>
        <p:txBody>
          <a:bodyPr wrap="square" lIns="0" tIns="0" rIns="0" bIns="0" rtlCol="0" anchor="ctr"/>
          <a:lstStyle/>
          <a:p>
            <a:pPr marL="0" indent="0">
              <a:buNone/>
            </a:pPr>
            <a:r>
              <a:rPr lang="en-US" sz="1300" dirty="0">
                <a:solidFill>
                  <a:srgbClr val="E8F4F8"/>
                </a:solidFill>
                <a:latin typeface="Calibri" pitchFamily="34" charset="0"/>
                <a:ea typeface="Calibri" pitchFamily="34" charset="-122"/>
                <a:cs typeface="Calibri" pitchFamily="34" charset="-120"/>
              </a:rPr>
              <a:t>Train/Test Split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Scope</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22960"/>
            <a:ext cx="4114800" cy="40233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274320" y="822960"/>
            <a:ext cx="4114800" cy="411480"/>
          </a:xfrm>
          <a:prstGeom prst="rect">
            <a:avLst/>
          </a:prstGeom>
          <a:solidFill>
            <a:srgbClr val="028090"/>
          </a:solidFill>
          <a:ln/>
        </p:spPr>
      </p:sp>
      <p:sp>
        <p:nvSpPr>
          <p:cNvPr id="8" name="Text 6"/>
          <p:cNvSpPr/>
          <p:nvPr/>
        </p:nvSpPr>
        <p:spPr>
          <a:xfrm>
            <a:off x="274320" y="82296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In Scope</a:t>
            </a:r>
            <a:endParaRPr lang="en-US" sz="1300" dirty="0"/>
          </a:p>
        </p:txBody>
      </p:sp>
      <p:sp>
        <p:nvSpPr>
          <p:cNvPr id="9" name="Text 7"/>
          <p:cNvSpPr/>
          <p:nvPr/>
        </p:nvSpPr>
        <p:spPr>
          <a:xfrm>
            <a:off x="457200" y="1325880"/>
            <a:ext cx="3749040" cy="3383280"/>
          </a:xfrm>
          <a:prstGeom prst="rect">
            <a:avLst/>
          </a:prstGeom>
          <a:noFill/>
          <a:ln/>
        </p:spPr>
        <p:txBody>
          <a:bodyPr wrap="square" lIns="0" tIns="0" rIns="0" bIns="0" rtlCol="0" anchor="t"/>
          <a:lstStyle/>
          <a:p>
            <a:pPr marL="0" indent="0">
              <a:buNone/>
            </a:pPr>
            <a:r>
              <a:rPr lang="en-US" sz="1200" dirty="0">
                <a:solidFill>
                  <a:srgbClr val="E8F4F8"/>
                </a:solidFill>
                <a:latin typeface="Calibri" pitchFamily="34" charset="0"/>
                <a:ea typeface="Calibri" pitchFamily="34" charset="-122"/>
                <a:cs typeface="Calibri" pitchFamily="34" charset="-120"/>
              </a:rPr>
              <a:t>• Data preprocessing &amp; cleaning</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Exploratory data analysis (EDA)</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Feature engineering</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Model training &amp; evaluation</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Interactive dashboard development</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Demand pattern visualization</a:t>
            </a:r>
          </a:p>
          <a:p>
            <a:pPr marL="0" indent="0">
              <a:buNone/>
            </a:pPr>
            <a:endParaRPr lang="en-US" sz="1200" dirty="0"/>
          </a:p>
        </p:txBody>
      </p:sp>
      <p:sp>
        <p:nvSpPr>
          <p:cNvPr id="10" name="Shape 8"/>
          <p:cNvSpPr/>
          <p:nvPr/>
        </p:nvSpPr>
        <p:spPr>
          <a:xfrm>
            <a:off x="4617720" y="822960"/>
            <a:ext cx="4114800" cy="40233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1" name="Shape 9"/>
          <p:cNvSpPr/>
          <p:nvPr/>
        </p:nvSpPr>
        <p:spPr>
          <a:xfrm>
            <a:off x="4617720" y="822960"/>
            <a:ext cx="4114800" cy="411480"/>
          </a:xfrm>
          <a:prstGeom prst="rect">
            <a:avLst/>
          </a:prstGeom>
          <a:solidFill>
            <a:srgbClr val="8B3A3A"/>
          </a:solidFill>
          <a:ln/>
        </p:spPr>
      </p:sp>
      <p:sp>
        <p:nvSpPr>
          <p:cNvPr id="12" name="Text 10"/>
          <p:cNvSpPr/>
          <p:nvPr/>
        </p:nvSpPr>
        <p:spPr>
          <a:xfrm>
            <a:off x="4617720" y="822960"/>
            <a:ext cx="4114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Out of Scope</a:t>
            </a:r>
            <a:endParaRPr lang="en-US" sz="1300" dirty="0"/>
          </a:p>
        </p:txBody>
      </p:sp>
      <p:sp>
        <p:nvSpPr>
          <p:cNvPr id="13" name="Text 11"/>
          <p:cNvSpPr/>
          <p:nvPr/>
        </p:nvSpPr>
        <p:spPr>
          <a:xfrm>
            <a:off x="4800600" y="1325880"/>
            <a:ext cx="3749040" cy="3383280"/>
          </a:xfrm>
          <a:prstGeom prst="rect">
            <a:avLst/>
          </a:prstGeom>
          <a:noFill/>
          <a:ln/>
        </p:spPr>
        <p:txBody>
          <a:bodyPr wrap="square" lIns="0" tIns="0" rIns="0" bIns="0" rtlCol="0" anchor="t"/>
          <a:lstStyle/>
          <a:p>
            <a:pPr marL="0" indent="0">
              <a:buNone/>
            </a:pPr>
            <a:r>
              <a:rPr lang="en-US" sz="1200" dirty="0">
                <a:solidFill>
                  <a:srgbClr val="E8F4F8"/>
                </a:solidFill>
                <a:latin typeface="Calibri" pitchFamily="34" charset="0"/>
                <a:ea typeface="Calibri" pitchFamily="34" charset="-122"/>
                <a:cs typeface="Calibri" pitchFamily="34" charset="-120"/>
              </a:rPr>
              <a:t>• Real-time traffic data</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GPS tracking integration</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Live weather API integration</a:t>
            </a:r>
          </a:p>
          <a:p>
            <a:pPr marL="0" indent="0">
              <a:buNone/>
            </a:pP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Real-time ride allocation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Literature Review</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28600" y="804672"/>
            <a:ext cx="4206240" cy="17373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228600" y="804672"/>
            <a:ext cx="1005840" cy="320040"/>
          </a:xfrm>
          <a:prstGeom prst="rect">
            <a:avLst/>
          </a:prstGeom>
          <a:solidFill>
            <a:srgbClr val="028090"/>
          </a:solidFill>
          <a:ln/>
        </p:spPr>
      </p:sp>
      <p:sp>
        <p:nvSpPr>
          <p:cNvPr id="8" name="Text 6"/>
          <p:cNvSpPr/>
          <p:nvPr/>
        </p:nvSpPr>
        <p:spPr>
          <a:xfrm>
            <a:off x="228600" y="804672"/>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Traditional</a:t>
            </a:r>
            <a:endParaRPr lang="en-US" sz="1000" dirty="0"/>
          </a:p>
        </p:txBody>
      </p:sp>
      <p:sp>
        <p:nvSpPr>
          <p:cNvPr id="9" name="Text 7"/>
          <p:cNvSpPr/>
          <p:nvPr/>
        </p:nvSpPr>
        <p:spPr>
          <a:xfrm>
            <a:off x="365760" y="1188720"/>
            <a:ext cx="388620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Statistical Methods</a:t>
            </a:r>
            <a:endParaRPr lang="en-US" sz="1300" dirty="0"/>
          </a:p>
        </p:txBody>
      </p:sp>
      <p:sp>
        <p:nvSpPr>
          <p:cNvPr id="10" name="Text 8"/>
          <p:cNvSpPr/>
          <p:nvPr/>
        </p:nvSpPr>
        <p:spPr>
          <a:xfrm>
            <a:off x="365760" y="1536192"/>
            <a:ext cx="388620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Linear Regression and statistical models initially used due to simplicity and interpretability.</a:t>
            </a:r>
            <a:endParaRPr lang="en-US" sz="1100" dirty="0"/>
          </a:p>
        </p:txBody>
      </p:sp>
      <p:sp>
        <p:nvSpPr>
          <p:cNvPr id="11" name="Shape 9"/>
          <p:cNvSpPr/>
          <p:nvPr/>
        </p:nvSpPr>
        <p:spPr>
          <a:xfrm>
            <a:off x="4690872" y="804672"/>
            <a:ext cx="4206240" cy="17373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2" name="Shape 10"/>
          <p:cNvSpPr/>
          <p:nvPr/>
        </p:nvSpPr>
        <p:spPr>
          <a:xfrm>
            <a:off x="4690872" y="804672"/>
            <a:ext cx="1005840" cy="320040"/>
          </a:xfrm>
          <a:prstGeom prst="rect">
            <a:avLst/>
          </a:prstGeom>
          <a:solidFill>
            <a:srgbClr val="028090"/>
          </a:solidFill>
          <a:ln/>
        </p:spPr>
      </p:sp>
      <p:sp>
        <p:nvSpPr>
          <p:cNvPr id="13" name="Text 11"/>
          <p:cNvSpPr/>
          <p:nvPr/>
        </p:nvSpPr>
        <p:spPr>
          <a:xfrm>
            <a:off x="4690872" y="804672"/>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Challenge</a:t>
            </a:r>
            <a:endParaRPr lang="en-US" sz="1000" dirty="0"/>
          </a:p>
        </p:txBody>
      </p:sp>
      <p:sp>
        <p:nvSpPr>
          <p:cNvPr id="14" name="Text 12"/>
          <p:cNvSpPr/>
          <p:nvPr/>
        </p:nvSpPr>
        <p:spPr>
          <a:xfrm>
            <a:off x="4828032" y="1188720"/>
            <a:ext cx="388620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Complex Patterns</a:t>
            </a:r>
            <a:endParaRPr lang="en-US" sz="1300" dirty="0"/>
          </a:p>
        </p:txBody>
      </p:sp>
      <p:sp>
        <p:nvSpPr>
          <p:cNvPr id="15" name="Text 13"/>
          <p:cNvSpPr/>
          <p:nvPr/>
        </p:nvSpPr>
        <p:spPr>
          <a:xfrm>
            <a:off x="4828032" y="1536192"/>
            <a:ext cx="388620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Ride demand influenced by weather, temperature, humidity, seasons, holidays — making prediction more complex.</a:t>
            </a:r>
            <a:endParaRPr lang="en-US" sz="1100" dirty="0"/>
          </a:p>
        </p:txBody>
      </p:sp>
      <p:sp>
        <p:nvSpPr>
          <p:cNvPr id="16" name="Shape 14"/>
          <p:cNvSpPr/>
          <p:nvPr/>
        </p:nvSpPr>
        <p:spPr>
          <a:xfrm>
            <a:off x="228600" y="2788920"/>
            <a:ext cx="4206240" cy="17373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7" name="Shape 15"/>
          <p:cNvSpPr/>
          <p:nvPr/>
        </p:nvSpPr>
        <p:spPr>
          <a:xfrm>
            <a:off x="228600" y="2788920"/>
            <a:ext cx="1005840" cy="320040"/>
          </a:xfrm>
          <a:prstGeom prst="rect">
            <a:avLst/>
          </a:prstGeom>
          <a:solidFill>
            <a:srgbClr val="028090"/>
          </a:solidFill>
          <a:ln/>
        </p:spPr>
      </p:sp>
      <p:sp>
        <p:nvSpPr>
          <p:cNvPr id="18" name="Text 16"/>
          <p:cNvSpPr/>
          <p:nvPr/>
        </p:nvSpPr>
        <p:spPr>
          <a:xfrm>
            <a:off x="228600" y="27889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19" name="Text 17"/>
          <p:cNvSpPr/>
          <p:nvPr/>
        </p:nvSpPr>
        <p:spPr>
          <a:xfrm>
            <a:off x="365760" y="3172968"/>
            <a:ext cx="388620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ML Algorithms Adopted</a:t>
            </a:r>
            <a:endParaRPr lang="en-US" sz="1300" dirty="0"/>
          </a:p>
        </p:txBody>
      </p:sp>
      <p:sp>
        <p:nvSpPr>
          <p:cNvPr id="20" name="Text 18"/>
          <p:cNvSpPr/>
          <p:nvPr/>
        </p:nvSpPr>
        <p:spPr>
          <a:xfrm>
            <a:off x="365760" y="3520440"/>
            <a:ext cx="388620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Ridge, Lasso, Decision Trees, Random Forests, and Gradient Boosting improve accuracy significantly.</a:t>
            </a:r>
            <a:endParaRPr lang="en-US" sz="1100" dirty="0"/>
          </a:p>
        </p:txBody>
      </p:sp>
      <p:sp>
        <p:nvSpPr>
          <p:cNvPr id="21" name="Shape 19"/>
          <p:cNvSpPr/>
          <p:nvPr/>
        </p:nvSpPr>
        <p:spPr>
          <a:xfrm>
            <a:off x="4690872" y="2788920"/>
            <a:ext cx="4206240" cy="17373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2" name="Shape 20"/>
          <p:cNvSpPr/>
          <p:nvPr/>
        </p:nvSpPr>
        <p:spPr>
          <a:xfrm>
            <a:off x="4690872" y="2788920"/>
            <a:ext cx="1005840" cy="320040"/>
          </a:xfrm>
          <a:prstGeom prst="rect">
            <a:avLst/>
          </a:prstGeom>
          <a:solidFill>
            <a:srgbClr val="028090"/>
          </a:solidFill>
          <a:ln/>
        </p:spPr>
      </p:sp>
      <p:sp>
        <p:nvSpPr>
          <p:cNvPr id="23" name="Text 21"/>
          <p:cNvSpPr/>
          <p:nvPr/>
        </p:nvSpPr>
        <p:spPr>
          <a:xfrm>
            <a:off x="4690872" y="27889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Best Practice</a:t>
            </a:r>
            <a:endParaRPr lang="en-US" sz="1000" dirty="0"/>
          </a:p>
        </p:txBody>
      </p:sp>
      <p:sp>
        <p:nvSpPr>
          <p:cNvPr id="24" name="Text 22"/>
          <p:cNvSpPr/>
          <p:nvPr/>
        </p:nvSpPr>
        <p:spPr>
          <a:xfrm>
            <a:off x="4828032" y="3172968"/>
            <a:ext cx="388620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Data Preprocessing</a:t>
            </a:r>
            <a:endParaRPr lang="en-US" sz="1300" dirty="0"/>
          </a:p>
        </p:txBody>
      </p:sp>
      <p:sp>
        <p:nvSpPr>
          <p:cNvPr id="25" name="Text 23"/>
          <p:cNvSpPr/>
          <p:nvPr/>
        </p:nvSpPr>
        <p:spPr>
          <a:xfrm>
            <a:off x="4828032" y="3520440"/>
            <a:ext cx="388620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Proper preprocessing, feature scaling, and handling missing values significantly enhance model performance.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Dataset Overview</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22960"/>
            <a:ext cx="1920240" cy="1097280"/>
          </a:xfrm>
          <a:prstGeom prst="rect">
            <a:avLst/>
          </a:prstGeom>
          <a:solidFill>
            <a:srgbClr val="028090"/>
          </a:solidFill>
          <a:ln/>
        </p:spPr>
      </p:sp>
      <p:sp>
        <p:nvSpPr>
          <p:cNvPr id="7" name="Text 5"/>
          <p:cNvSpPr/>
          <p:nvPr/>
        </p:nvSpPr>
        <p:spPr>
          <a:xfrm>
            <a:off x="274320" y="82296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10,886</a:t>
            </a:r>
            <a:endParaRPr lang="en-US" sz="2800" dirty="0"/>
          </a:p>
        </p:txBody>
      </p:sp>
      <p:sp>
        <p:nvSpPr>
          <p:cNvPr id="8" name="Text 6"/>
          <p:cNvSpPr/>
          <p:nvPr/>
        </p:nvSpPr>
        <p:spPr>
          <a:xfrm>
            <a:off x="274320" y="1417320"/>
            <a:ext cx="1920240" cy="457200"/>
          </a:xfrm>
          <a:prstGeom prst="rect">
            <a:avLst/>
          </a:prstGeom>
          <a:noFill/>
          <a:ln/>
        </p:spPr>
        <p:txBody>
          <a:bodyPr wrap="square" lIns="0" tIns="0" rIns="0" bIns="0" rtlCol="0" anchor="t"/>
          <a:lstStyle/>
          <a:p>
            <a:pPr marL="0" indent="0" algn="ctr">
              <a:buNone/>
            </a:pPr>
            <a:r>
              <a:rPr lang="en-US" sz="1100" dirty="0">
                <a:solidFill>
                  <a:srgbClr val="E0F7F5"/>
                </a:solidFill>
                <a:latin typeface="Calibri" pitchFamily="34" charset="0"/>
                <a:ea typeface="Calibri" pitchFamily="34" charset="-122"/>
                <a:cs typeface="Calibri" pitchFamily="34" charset="-120"/>
              </a:rPr>
              <a:t>Rows</a:t>
            </a:r>
            <a:endParaRPr lang="en-US" sz="1100" dirty="0"/>
          </a:p>
        </p:txBody>
      </p:sp>
      <p:sp>
        <p:nvSpPr>
          <p:cNvPr id="9" name="Shape 7"/>
          <p:cNvSpPr/>
          <p:nvPr/>
        </p:nvSpPr>
        <p:spPr>
          <a:xfrm>
            <a:off x="2468880" y="822960"/>
            <a:ext cx="1920240" cy="1097280"/>
          </a:xfrm>
          <a:prstGeom prst="rect">
            <a:avLst/>
          </a:prstGeom>
          <a:solidFill>
            <a:srgbClr val="028090"/>
          </a:solidFill>
          <a:ln/>
        </p:spPr>
      </p:sp>
      <p:sp>
        <p:nvSpPr>
          <p:cNvPr id="10" name="Text 8"/>
          <p:cNvSpPr/>
          <p:nvPr/>
        </p:nvSpPr>
        <p:spPr>
          <a:xfrm>
            <a:off x="2468880" y="82296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13</a:t>
            </a:r>
            <a:endParaRPr lang="en-US" sz="2800" dirty="0"/>
          </a:p>
        </p:txBody>
      </p:sp>
      <p:sp>
        <p:nvSpPr>
          <p:cNvPr id="11" name="Text 9"/>
          <p:cNvSpPr/>
          <p:nvPr/>
        </p:nvSpPr>
        <p:spPr>
          <a:xfrm>
            <a:off x="2468880" y="1417320"/>
            <a:ext cx="1920240" cy="457200"/>
          </a:xfrm>
          <a:prstGeom prst="rect">
            <a:avLst/>
          </a:prstGeom>
          <a:noFill/>
          <a:ln/>
        </p:spPr>
        <p:txBody>
          <a:bodyPr wrap="square" lIns="0" tIns="0" rIns="0" bIns="0" rtlCol="0" anchor="t"/>
          <a:lstStyle/>
          <a:p>
            <a:pPr marL="0" indent="0" algn="ctr">
              <a:buNone/>
            </a:pPr>
            <a:r>
              <a:rPr lang="en-US" sz="1100" dirty="0">
                <a:solidFill>
                  <a:srgbClr val="E0F7F5"/>
                </a:solidFill>
                <a:latin typeface="Calibri" pitchFamily="34" charset="0"/>
                <a:ea typeface="Calibri" pitchFamily="34" charset="-122"/>
                <a:cs typeface="Calibri" pitchFamily="34" charset="-120"/>
              </a:rPr>
              <a:t>Columns</a:t>
            </a:r>
            <a:endParaRPr lang="en-US" sz="1100" dirty="0"/>
          </a:p>
        </p:txBody>
      </p:sp>
      <p:sp>
        <p:nvSpPr>
          <p:cNvPr id="12" name="Shape 10"/>
          <p:cNvSpPr/>
          <p:nvPr/>
        </p:nvSpPr>
        <p:spPr>
          <a:xfrm>
            <a:off x="4663440" y="822960"/>
            <a:ext cx="1920240" cy="1097280"/>
          </a:xfrm>
          <a:prstGeom prst="rect">
            <a:avLst/>
          </a:prstGeom>
          <a:solidFill>
            <a:srgbClr val="028090"/>
          </a:solidFill>
          <a:ln/>
        </p:spPr>
      </p:sp>
      <p:sp>
        <p:nvSpPr>
          <p:cNvPr id="13" name="Text 11"/>
          <p:cNvSpPr/>
          <p:nvPr/>
        </p:nvSpPr>
        <p:spPr>
          <a:xfrm>
            <a:off x="4663440" y="82296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14" name="Text 12"/>
          <p:cNvSpPr/>
          <p:nvPr/>
        </p:nvSpPr>
        <p:spPr>
          <a:xfrm>
            <a:off x="4663440" y="1417320"/>
            <a:ext cx="1920240" cy="457200"/>
          </a:xfrm>
          <a:prstGeom prst="rect">
            <a:avLst/>
          </a:prstGeom>
          <a:noFill/>
          <a:ln/>
        </p:spPr>
        <p:txBody>
          <a:bodyPr wrap="square" lIns="0" tIns="0" rIns="0" bIns="0" rtlCol="0" anchor="t"/>
          <a:lstStyle/>
          <a:p>
            <a:pPr marL="0" indent="0" algn="ctr">
              <a:buNone/>
            </a:pPr>
            <a:r>
              <a:rPr lang="en-US" sz="1100" dirty="0">
                <a:solidFill>
                  <a:srgbClr val="E0F7F5"/>
                </a:solidFill>
                <a:latin typeface="Calibri" pitchFamily="34" charset="0"/>
                <a:ea typeface="Calibri" pitchFamily="34" charset="-122"/>
                <a:cs typeface="Calibri" pitchFamily="34" charset="-120"/>
              </a:rPr>
              <a:t>Categorical</a:t>
            </a:r>
            <a:endParaRPr lang="en-US" sz="1100" dirty="0"/>
          </a:p>
          <a:p>
            <a:pPr marL="0" indent="0" algn="ctr">
              <a:buNone/>
            </a:pPr>
            <a:r>
              <a:rPr lang="en-US" sz="1100" dirty="0">
                <a:solidFill>
                  <a:srgbClr val="E0F7F5"/>
                </a:solidFill>
                <a:latin typeface="Calibri" pitchFamily="34" charset="0"/>
                <a:ea typeface="Calibri" pitchFamily="34" charset="-122"/>
                <a:cs typeface="Calibri" pitchFamily="34" charset="-120"/>
              </a:rPr>
              <a:t>Features</a:t>
            </a:r>
            <a:endParaRPr lang="en-US" sz="1100" dirty="0"/>
          </a:p>
        </p:txBody>
      </p:sp>
      <p:sp>
        <p:nvSpPr>
          <p:cNvPr id="15" name="Shape 13"/>
          <p:cNvSpPr/>
          <p:nvPr/>
        </p:nvSpPr>
        <p:spPr>
          <a:xfrm>
            <a:off x="6858000" y="822960"/>
            <a:ext cx="1920240" cy="1097280"/>
          </a:xfrm>
          <a:prstGeom prst="rect">
            <a:avLst/>
          </a:prstGeom>
          <a:solidFill>
            <a:srgbClr val="028090"/>
          </a:solidFill>
          <a:ln/>
        </p:spPr>
      </p:sp>
      <p:sp>
        <p:nvSpPr>
          <p:cNvPr id="16" name="Text 14"/>
          <p:cNvSpPr/>
          <p:nvPr/>
        </p:nvSpPr>
        <p:spPr>
          <a:xfrm>
            <a:off x="6858000" y="82296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17" name="Text 15"/>
          <p:cNvSpPr/>
          <p:nvPr/>
        </p:nvSpPr>
        <p:spPr>
          <a:xfrm>
            <a:off x="6858000" y="1417320"/>
            <a:ext cx="1920240" cy="457200"/>
          </a:xfrm>
          <a:prstGeom prst="rect">
            <a:avLst/>
          </a:prstGeom>
          <a:noFill/>
          <a:ln/>
        </p:spPr>
        <p:txBody>
          <a:bodyPr wrap="square" lIns="0" tIns="0" rIns="0" bIns="0" rtlCol="0" anchor="t"/>
          <a:lstStyle/>
          <a:p>
            <a:pPr marL="0" indent="0" algn="ctr">
              <a:buNone/>
            </a:pPr>
            <a:r>
              <a:rPr lang="en-US" sz="1100" dirty="0">
                <a:solidFill>
                  <a:srgbClr val="E0F7F5"/>
                </a:solidFill>
                <a:latin typeface="Calibri" pitchFamily="34" charset="0"/>
                <a:ea typeface="Calibri" pitchFamily="34" charset="-122"/>
                <a:cs typeface="Calibri" pitchFamily="34" charset="-120"/>
              </a:rPr>
              <a:t>Numerical</a:t>
            </a:r>
            <a:endParaRPr lang="en-US" sz="1100" dirty="0"/>
          </a:p>
          <a:p>
            <a:pPr marL="0" indent="0" algn="ctr">
              <a:buNone/>
            </a:pPr>
            <a:r>
              <a:rPr lang="en-US" sz="1100" dirty="0">
                <a:solidFill>
                  <a:srgbClr val="E0F7F5"/>
                </a:solidFill>
                <a:latin typeface="Calibri" pitchFamily="34" charset="0"/>
                <a:ea typeface="Calibri" pitchFamily="34" charset="-122"/>
                <a:cs typeface="Calibri" pitchFamily="34" charset="-120"/>
              </a:rPr>
              <a:t>Features</a:t>
            </a:r>
            <a:endParaRPr lang="en-US" sz="1100" dirty="0"/>
          </a:p>
        </p:txBody>
      </p:sp>
      <p:sp>
        <p:nvSpPr>
          <p:cNvPr id="18" name="Shape 16"/>
          <p:cNvSpPr/>
          <p:nvPr/>
        </p:nvSpPr>
        <p:spPr>
          <a:xfrm>
            <a:off x="274320" y="2103120"/>
            <a:ext cx="4114800" cy="27889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9" name="Text 17"/>
          <p:cNvSpPr/>
          <p:nvPr/>
        </p:nvSpPr>
        <p:spPr>
          <a:xfrm>
            <a:off x="411480" y="2148840"/>
            <a:ext cx="384048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Categorical Features</a:t>
            </a:r>
            <a:endParaRPr lang="en-US" sz="1300" dirty="0"/>
          </a:p>
        </p:txBody>
      </p:sp>
      <p:sp>
        <p:nvSpPr>
          <p:cNvPr id="20" name="Text 18"/>
          <p:cNvSpPr/>
          <p:nvPr/>
        </p:nvSpPr>
        <p:spPr>
          <a:xfrm>
            <a:off x="457200" y="2542032"/>
            <a:ext cx="3657600" cy="2286000"/>
          </a:xfrm>
          <a:prstGeom prst="rect">
            <a:avLst/>
          </a:prstGeom>
          <a:noFill/>
          <a:ln/>
        </p:spPr>
        <p:txBody>
          <a:bodyPr wrap="square" lIns="0" tIns="0" rIns="0" bIns="0" rtlCol="0" anchor="t"/>
          <a:lstStyle/>
          <a:p>
            <a:pPr marL="0" indent="0">
              <a:buNone/>
            </a:pPr>
            <a:r>
              <a:rPr lang="en-US" sz="1200" dirty="0">
                <a:solidFill>
                  <a:srgbClr val="E8F4F8"/>
                </a:solidFill>
                <a:latin typeface="Calibri" pitchFamily="34" charset="0"/>
                <a:ea typeface="Calibri" pitchFamily="34" charset="-122"/>
                <a:cs typeface="Calibri" pitchFamily="34" charset="-120"/>
              </a:rPr>
              <a:t>• Season</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Weather</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Weekday</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AM/PM</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Holidays</a:t>
            </a:r>
            <a:endParaRPr lang="en-US" sz="1200" dirty="0"/>
          </a:p>
        </p:txBody>
      </p:sp>
      <p:sp>
        <p:nvSpPr>
          <p:cNvPr id="21" name="Shape 19"/>
          <p:cNvSpPr/>
          <p:nvPr/>
        </p:nvSpPr>
        <p:spPr>
          <a:xfrm>
            <a:off x="4617720" y="2103120"/>
            <a:ext cx="4114800" cy="27889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2" name="Text 20"/>
          <p:cNvSpPr/>
          <p:nvPr/>
        </p:nvSpPr>
        <p:spPr>
          <a:xfrm>
            <a:off x="4754880" y="2148840"/>
            <a:ext cx="384048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Numerical Features</a:t>
            </a:r>
            <a:endParaRPr lang="en-US" sz="1300" dirty="0"/>
          </a:p>
        </p:txBody>
      </p:sp>
      <p:sp>
        <p:nvSpPr>
          <p:cNvPr id="23" name="Text 21"/>
          <p:cNvSpPr/>
          <p:nvPr/>
        </p:nvSpPr>
        <p:spPr>
          <a:xfrm>
            <a:off x="4754880" y="2542032"/>
            <a:ext cx="3840480" cy="2286000"/>
          </a:xfrm>
          <a:prstGeom prst="rect">
            <a:avLst/>
          </a:prstGeom>
          <a:noFill/>
          <a:ln/>
        </p:spPr>
        <p:txBody>
          <a:bodyPr wrap="square" lIns="0" tIns="0" rIns="0" bIns="0" rtlCol="0" anchor="t"/>
          <a:lstStyle/>
          <a:p>
            <a:pPr marL="0" indent="0">
              <a:buNone/>
            </a:pPr>
            <a:r>
              <a:rPr lang="en-US" sz="1200" dirty="0">
                <a:solidFill>
                  <a:srgbClr val="E8F4F8"/>
                </a:solidFill>
                <a:latin typeface="Calibri" pitchFamily="34" charset="0"/>
                <a:ea typeface="Calibri" pitchFamily="34" charset="-122"/>
                <a:cs typeface="Calibri" pitchFamily="34" charset="-120"/>
              </a:rPr>
              <a:t>• Temperature</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Humidity</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Windspeed</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Casual Riders</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Count (Target)</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Year</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Month</a:t>
            </a:r>
            <a:endParaRPr lang="en-US" sz="1200" dirty="0"/>
          </a:p>
          <a:p>
            <a:pPr marL="0" indent="0">
              <a:buNone/>
            </a:pPr>
            <a:r>
              <a:rPr lang="en-US" sz="1200" dirty="0">
                <a:solidFill>
                  <a:srgbClr val="E8F4F8"/>
                </a:solidFill>
                <a:latin typeface="Calibri" pitchFamily="34" charset="0"/>
                <a:ea typeface="Calibri" pitchFamily="34" charset="-122"/>
                <a:cs typeface="Calibri" pitchFamily="34" charset="-120"/>
              </a:rPr>
              <a:t>• Day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Data Cleaning &amp; Preprocessing</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28600" y="804672"/>
            <a:ext cx="2788920" cy="15087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228600" y="804672"/>
            <a:ext cx="502920" cy="347472"/>
          </a:xfrm>
          <a:prstGeom prst="rect">
            <a:avLst/>
          </a:prstGeom>
          <a:solidFill>
            <a:srgbClr val="028090"/>
          </a:solidFill>
          <a:ln/>
        </p:spPr>
      </p:sp>
      <p:sp>
        <p:nvSpPr>
          <p:cNvPr id="8" name="Text 6"/>
          <p:cNvSpPr/>
          <p:nvPr/>
        </p:nvSpPr>
        <p:spPr>
          <a:xfrm>
            <a:off x="228600" y="80467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822960" y="832104"/>
            <a:ext cx="2103120" cy="347472"/>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Missing Value Detection</a:t>
            </a:r>
            <a:endParaRPr lang="en-US" sz="1150" dirty="0"/>
          </a:p>
        </p:txBody>
      </p:sp>
      <p:sp>
        <p:nvSpPr>
          <p:cNvPr id="10" name="Text 8"/>
          <p:cNvSpPr/>
          <p:nvPr/>
        </p:nvSpPr>
        <p:spPr>
          <a:xfrm>
            <a:off x="338328" y="1243584"/>
            <a:ext cx="2578608" cy="987552"/>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1,632 missing records found in temp, humidity, and windspeed using df.isnull().sum()</a:t>
            </a:r>
            <a:endParaRPr lang="en-US" sz="1050" dirty="0"/>
          </a:p>
        </p:txBody>
      </p:sp>
      <p:sp>
        <p:nvSpPr>
          <p:cNvPr id="11" name="Shape 9"/>
          <p:cNvSpPr/>
          <p:nvPr/>
        </p:nvSpPr>
        <p:spPr>
          <a:xfrm>
            <a:off x="3200400" y="804672"/>
            <a:ext cx="2788920" cy="15087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2" name="Shape 10"/>
          <p:cNvSpPr/>
          <p:nvPr/>
        </p:nvSpPr>
        <p:spPr>
          <a:xfrm>
            <a:off x="3200400" y="804672"/>
            <a:ext cx="502920" cy="347472"/>
          </a:xfrm>
          <a:prstGeom prst="rect">
            <a:avLst/>
          </a:prstGeom>
          <a:solidFill>
            <a:srgbClr val="028090"/>
          </a:solidFill>
          <a:ln/>
        </p:spPr>
      </p:sp>
      <p:sp>
        <p:nvSpPr>
          <p:cNvPr id="13" name="Text 11"/>
          <p:cNvSpPr/>
          <p:nvPr/>
        </p:nvSpPr>
        <p:spPr>
          <a:xfrm>
            <a:off x="3200400" y="80467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3794760" y="832104"/>
            <a:ext cx="2103120" cy="347472"/>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Median Imputation</a:t>
            </a:r>
            <a:endParaRPr lang="en-US" sz="1150" dirty="0"/>
          </a:p>
        </p:txBody>
      </p:sp>
      <p:sp>
        <p:nvSpPr>
          <p:cNvPr id="15" name="Text 13"/>
          <p:cNvSpPr/>
          <p:nvPr/>
        </p:nvSpPr>
        <p:spPr>
          <a:xfrm>
            <a:off x="3310128" y="1243584"/>
            <a:ext cx="2578608" cy="987552"/>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Missing values replaced with median — robust to outliers, preserves data distribution</a:t>
            </a:r>
            <a:endParaRPr lang="en-US" sz="1050" dirty="0"/>
          </a:p>
        </p:txBody>
      </p:sp>
      <p:sp>
        <p:nvSpPr>
          <p:cNvPr id="16" name="Shape 14"/>
          <p:cNvSpPr/>
          <p:nvPr/>
        </p:nvSpPr>
        <p:spPr>
          <a:xfrm>
            <a:off x="6172200" y="804672"/>
            <a:ext cx="2788920" cy="15087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7" name="Shape 15"/>
          <p:cNvSpPr/>
          <p:nvPr/>
        </p:nvSpPr>
        <p:spPr>
          <a:xfrm>
            <a:off x="6172200" y="804672"/>
            <a:ext cx="502920" cy="347472"/>
          </a:xfrm>
          <a:prstGeom prst="rect">
            <a:avLst/>
          </a:prstGeom>
          <a:solidFill>
            <a:srgbClr val="028090"/>
          </a:solidFill>
          <a:ln/>
        </p:spPr>
      </p:sp>
      <p:sp>
        <p:nvSpPr>
          <p:cNvPr id="18" name="Text 16"/>
          <p:cNvSpPr/>
          <p:nvPr/>
        </p:nvSpPr>
        <p:spPr>
          <a:xfrm>
            <a:off x="6172200" y="804672"/>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6766560" y="832104"/>
            <a:ext cx="2103120" cy="347472"/>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Z-score Standardization</a:t>
            </a:r>
            <a:endParaRPr lang="en-US" sz="1150" dirty="0"/>
          </a:p>
        </p:txBody>
      </p:sp>
      <p:sp>
        <p:nvSpPr>
          <p:cNvPr id="20" name="Text 18"/>
          <p:cNvSpPr/>
          <p:nvPr/>
        </p:nvSpPr>
        <p:spPr>
          <a:xfrm>
            <a:off x="6281928" y="1243584"/>
            <a:ext cx="2578608" cy="987552"/>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Numerical features (temp, humidity, windspeed, casual) scaled to mean=0, std=1</a:t>
            </a:r>
            <a:endParaRPr lang="en-US" sz="1050" dirty="0"/>
          </a:p>
        </p:txBody>
      </p:sp>
      <p:sp>
        <p:nvSpPr>
          <p:cNvPr id="21" name="Shape 19"/>
          <p:cNvSpPr/>
          <p:nvPr/>
        </p:nvSpPr>
        <p:spPr>
          <a:xfrm>
            <a:off x="228600" y="2514600"/>
            <a:ext cx="2788920" cy="15087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2" name="Shape 20"/>
          <p:cNvSpPr/>
          <p:nvPr/>
        </p:nvSpPr>
        <p:spPr>
          <a:xfrm>
            <a:off x="228600" y="2514600"/>
            <a:ext cx="502920" cy="347472"/>
          </a:xfrm>
          <a:prstGeom prst="rect">
            <a:avLst/>
          </a:prstGeom>
          <a:solidFill>
            <a:srgbClr val="028090"/>
          </a:solidFill>
          <a:ln/>
        </p:spPr>
      </p:sp>
      <p:sp>
        <p:nvSpPr>
          <p:cNvPr id="23" name="Text 21"/>
          <p:cNvSpPr/>
          <p:nvPr/>
        </p:nvSpPr>
        <p:spPr>
          <a:xfrm>
            <a:off x="228600" y="251460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822960" y="2542032"/>
            <a:ext cx="2103120" cy="347472"/>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Label Encoding</a:t>
            </a:r>
            <a:endParaRPr lang="en-US" sz="1150" dirty="0"/>
          </a:p>
        </p:txBody>
      </p:sp>
      <p:sp>
        <p:nvSpPr>
          <p:cNvPr id="25" name="Text 23"/>
          <p:cNvSpPr/>
          <p:nvPr/>
        </p:nvSpPr>
        <p:spPr>
          <a:xfrm>
            <a:off x="338328" y="2953512"/>
            <a:ext cx="2578608" cy="987552"/>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Categorical features (season, weather) converted to numerical: Spring=1, Summer=2, Fall=3, Winter=4</a:t>
            </a:r>
            <a:endParaRPr lang="en-US" sz="1050" dirty="0"/>
          </a:p>
        </p:txBody>
      </p:sp>
      <p:sp>
        <p:nvSpPr>
          <p:cNvPr id="26" name="Shape 24"/>
          <p:cNvSpPr/>
          <p:nvPr/>
        </p:nvSpPr>
        <p:spPr>
          <a:xfrm>
            <a:off x="3200400" y="2514600"/>
            <a:ext cx="2788920" cy="15087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7" name="Shape 25"/>
          <p:cNvSpPr/>
          <p:nvPr/>
        </p:nvSpPr>
        <p:spPr>
          <a:xfrm>
            <a:off x="3200400" y="2514600"/>
            <a:ext cx="502920" cy="347472"/>
          </a:xfrm>
          <a:prstGeom prst="rect">
            <a:avLst/>
          </a:prstGeom>
          <a:solidFill>
            <a:srgbClr val="028090"/>
          </a:solidFill>
          <a:ln/>
        </p:spPr>
      </p:sp>
      <p:sp>
        <p:nvSpPr>
          <p:cNvPr id="28" name="Text 26"/>
          <p:cNvSpPr/>
          <p:nvPr/>
        </p:nvSpPr>
        <p:spPr>
          <a:xfrm>
            <a:off x="3200400" y="251460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9" name="Text 27"/>
          <p:cNvSpPr/>
          <p:nvPr/>
        </p:nvSpPr>
        <p:spPr>
          <a:xfrm>
            <a:off x="3794760" y="2542032"/>
            <a:ext cx="2103120" cy="347472"/>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Feature Engineering</a:t>
            </a:r>
            <a:endParaRPr lang="en-US" sz="1150" dirty="0"/>
          </a:p>
        </p:txBody>
      </p:sp>
      <p:sp>
        <p:nvSpPr>
          <p:cNvPr id="30" name="Text 28"/>
          <p:cNvSpPr/>
          <p:nvPr/>
        </p:nvSpPr>
        <p:spPr>
          <a:xfrm>
            <a:off x="3310128" y="2953512"/>
            <a:ext cx="2578608" cy="987552"/>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Time-related variables, environmental conditions analyzed to improve prediction performance</a:t>
            </a:r>
            <a:endParaRPr lang="en-US" sz="1050" dirty="0"/>
          </a:p>
        </p:txBody>
      </p:sp>
      <p:sp>
        <p:nvSpPr>
          <p:cNvPr id="31" name="Shape 29"/>
          <p:cNvSpPr/>
          <p:nvPr/>
        </p:nvSpPr>
        <p:spPr>
          <a:xfrm>
            <a:off x="6172200" y="2514600"/>
            <a:ext cx="2788920" cy="150876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32" name="Shape 30"/>
          <p:cNvSpPr/>
          <p:nvPr/>
        </p:nvSpPr>
        <p:spPr>
          <a:xfrm>
            <a:off x="6172200" y="2514600"/>
            <a:ext cx="502920" cy="347472"/>
          </a:xfrm>
          <a:prstGeom prst="rect">
            <a:avLst/>
          </a:prstGeom>
          <a:solidFill>
            <a:srgbClr val="028090"/>
          </a:solidFill>
          <a:ln/>
        </p:spPr>
      </p:sp>
      <p:sp>
        <p:nvSpPr>
          <p:cNvPr id="33" name="Text 31"/>
          <p:cNvSpPr/>
          <p:nvPr/>
        </p:nvSpPr>
        <p:spPr>
          <a:xfrm>
            <a:off x="6172200" y="2514600"/>
            <a:ext cx="502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4" name="Text 32"/>
          <p:cNvSpPr/>
          <p:nvPr/>
        </p:nvSpPr>
        <p:spPr>
          <a:xfrm>
            <a:off x="6766560" y="2542032"/>
            <a:ext cx="2103120" cy="347472"/>
          </a:xfrm>
          <a:prstGeom prst="rect">
            <a:avLst/>
          </a:prstGeom>
          <a:noFill/>
          <a:ln/>
        </p:spPr>
        <p:txBody>
          <a:bodyPr wrap="square" lIns="0" tIns="0" rIns="0" bIns="0" rtlCol="0" anchor="ctr"/>
          <a:lstStyle/>
          <a:p>
            <a:pPr marL="0" indent="0">
              <a:buNone/>
            </a:pPr>
            <a:r>
              <a:rPr lang="en-US" sz="1150" b="1" dirty="0">
                <a:solidFill>
                  <a:srgbClr val="00A896"/>
                </a:solidFill>
                <a:latin typeface="Calibri" pitchFamily="34" charset="0"/>
                <a:ea typeface="Calibri" pitchFamily="34" charset="-122"/>
                <a:cs typeface="Calibri" pitchFamily="34" charset="-120"/>
              </a:rPr>
              <a:t>Clean Dataset</a:t>
            </a:r>
            <a:endParaRPr lang="en-US" sz="1150" dirty="0"/>
          </a:p>
        </p:txBody>
      </p:sp>
      <p:sp>
        <p:nvSpPr>
          <p:cNvPr id="35" name="Text 33"/>
          <p:cNvSpPr/>
          <p:nvPr/>
        </p:nvSpPr>
        <p:spPr>
          <a:xfrm>
            <a:off x="6281928" y="2953512"/>
            <a:ext cx="2578608" cy="987552"/>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Final structured dataset ready for ML model training with all features properly formatted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Exploratory Data Analysis</a:t>
            </a:r>
            <a:endParaRPr lang="en-US" sz="2200" dirty="0"/>
          </a:p>
        </p:txBody>
      </p:sp>
      <p:sp>
        <p:nvSpPr>
          <p:cNvPr id="5" name="Shape 3"/>
          <p:cNvSpPr/>
          <p:nvPr/>
        </p:nvSpPr>
        <p:spPr>
          <a:xfrm>
            <a:off x="274320" y="658368"/>
            <a:ext cx="1097280" cy="36576"/>
          </a:xfrm>
          <a:prstGeom prst="rect">
            <a:avLst/>
          </a:prstGeom>
          <a:solidFill>
            <a:srgbClr val="02C39A"/>
          </a:solidFill>
          <a:ln/>
        </p:spPr>
      </p:sp>
      <p:graphicFrame>
        <p:nvGraphicFramePr>
          <p:cNvPr id="6" name="Chart 0"/>
          <p:cNvGraphicFramePr/>
          <p:nvPr/>
        </p:nvGraphicFramePr>
        <p:xfrm>
          <a:off x="274320" y="777240"/>
          <a:ext cx="4114800" cy="2148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4617720" y="777240"/>
          <a:ext cx="4114800" cy="21488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2"/>
          <p:cNvGraphicFramePr/>
          <p:nvPr/>
        </p:nvGraphicFramePr>
        <p:xfrm>
          <a:off x="274320" y="3017520"/>
          <a:ext cx="4114800" cy="19202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3"/>
          <p:cNvGraphicFramePr/>
          <p:nvPr/>
        </p:nvGraphicFramePr>
        <p:xfrm>
          <a:off x="4617720" y="3017520"/>
          <a:ext cx="4114800" cy="192024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Machine Learning Algorithms</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28600" y="804672"/>
            <a:ext cx="2834640" cy="406908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228600" y="804672"/>
            <a:ext cx="2834640" cy="411480"/>
          </a:xfrm>
          <a:prstGeom prst="rect">
            <a:avLst/>
          </a:prstGeom>
          <a:solidFill>
            <a:srgbClr val="028090"/>
          </a:solidFill>
          <a:ln/>
        </p:spPr>
      </p:sp>
      <p:sp>
        <p:nvSpPr>
          <p:cNvPr id="8" name="Text 6"/>
          <p:cNvSpPr/>
          <p:nvPr/>
        </p:nvSpPr>
        <p:spPr>
          <a:xfrm>
            <a:off x="228600" y="804672"/>
            <a:ext cx="283464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Linear Regression</a:t>
            </a:r>
            <a:endParaRPr lang="en-US" sz="1300" dirty="0"/>
          </a:p>
        </p:txBody>
      </p:sp>
      <p:sp>
        <p:nvSpPr>
          <p:cNvPr id="9" name="Shape 7"/>
          <p:cNvSpPr/>
          <p:nvPr/>
        </p:nvSpPr>
        <p:spPr>
          <a:xfrm>
            <a:off x="338328" y="1298448"/>
            <a:ext cx="822960" cy="256032"/>
          </a:xfrm>
          <a:prstGeom prst="rect">
            <a:avLst/>
          </a:prstGeom>
          <a:solidFill>
            <a:srgbClr val="028090">
              <a:alpha val="70000"/>
            </a:srgbClr>
          </a:solidFill>
          <a:ln/>
        </p:spPr>
      </p:sp>
      <p:sp>
        <p:nvSpPr>
          <p:cNvPr id="10" name="Text 8"/>
          <p:cNvSpPr/>
          <p:nvPr/>
        </p:nvSpPr>
        <p:spPr>
          <a:xfrm>
            <a:off x="338328" y="1298448"/>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Baseline</a:t>
            </a:r>
            <a:endParaRPr lang="en-US" sz="900" dirty="0"/>
          </a:p>
        </p:txBody>
      </p:sp>
      <p:sp>
        <p:nvSpPr>
          <p:cNvPr id="11" name="Text 9"/>
          <p:cNvSpPr/>
          <p:nvPr/>
        </p:nvSpPr>
        <p:spPr>
          <a:xfrm>
            <a:off x="338328" y="1627632"/>
            <a:ext cx="2606040" cy="1280160"/>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Establishes a linear relationship between independent variables and ride demand. Simple, interpretable, and serves as the baseline model for performance evaluation.</a:t>
            </a:r>
            <a:endParaRPr lang="en-US" sz="1100" dirty="0"/>
          </a:p>
        </p:txBody>
      </p:sp>
      <p:sp>
        <p:nvSpPr>
          <p:cNvPr id="12" name="Text 10"/>
          <p:cNvSpPr/>
          <p:nvPr/>
        </p:nvSpPr>
        <p:spPr>
          <a:xfrm>
            <a:off x="338328" y="2944368"/>
            <a:ext cx="2606040" cy="25603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Advantages:</a:t>
            </a:r>
            <a:endParaRPr lang="en-US" sz="1100" dirty="0"/>
          </a:p>
        </p:txBody>
      </p:sp>
      <p:sp>
        <p:nvSpPr>
          <p:cNvPr id="13" name="Text 11"/>
          <p:cNvSpPr/>
          <p:nvPr/>
        </p:nvSpPr>
        <p:spPr>
          <a:xfrm>
            <a:off x="338328" y="3218688"/>
            <a:ext cx="2606040" cy="96012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 Easy to interpret</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Fast training</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Strong baseline</a:t>
            </a:r>
            <a:endParaRPr lang="en-US" sz="1050" dirty="0"/>
          </a:p>
        </p:txBody>
      </p:sp>
      <p:sp>
        <p:nvSpPr>
          <p:cNvPr id="14" name="Shape 12"/>
          <p:cNvSpPr/>
          <p:nvPr/>
        </p:nvSpPr>
        <p:spPr>
          <a:xfrm>
            <a:off x="3200400" y="804672"/>
            <a:ext cx="2834640" cy="406908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5" name="Shape 13"/>
          <p:cNvSpPr/>
          <p:nvPr/>
        </p:nvSpPr>
        <p:spPr>
          <a:xfrm>
            <a:off x="3200400" y="804672"/>
            <a:ext cx="2834640" cy="411480"/>
          </a:xfrm>
          <a:prstGeom prst="rect">
            <a:avLst/>
          </a:prstGeom>
          <a:solidFill>
            <a:srgbClr val="00A896"/>
          </a:solidFill>
          <a:ln/>
        </p:spPr>
      </p:sp>
      <p:sp>
        <p:nvSpPr>
          <p:cNvPr id="16" name="Text 14"/>
          <p:cNvSpPr/>
          <p:nvPr/>
        </p:nvSpPr>
        <p:spPr>
          <a:xfrm>
            <a:off x="3200400" y="804672"/>
            <a:ext cx="283464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Ridge Regression</a:t>
            </a:r>
            <a:endParaRPr lang="en-US" sz="1300" dirty="0"/>
          </a:p>
        </p:txBody>
      </p:sp>
      <p:sp>
        <p:nvSpPr>
          <p:cNvPr id="17" name="Shape 15"/>
          <p:cNvSpPr/>
          <p:nvPr/>
        </p:nvSpPr>
        <p:spPr>
          <a:xfrm>
            <a:off x="3310128" y="1298448"/>
            <a:ext cx="822960" cy="256032"/>
          </a:xfrm>
          <a:prstGeom prst="rect">
            <a:avLst/>
          </a:prstGeom>
          <a:solidFill>
            <a:srgbClr val="00A896">
              <a:alpha val="70000"/>
            </a:srgbClr>
          </a:solidFill>
          <a:ln/>
        </p:spPr>
      </p:sp>
      <p:sp>
        <p:nvSpPr>
          <p:cNvPr id="18" name="Text 16"/>
          <p:cNvSpPr/>
          <p:nvPr/>
        </p:nvSpPr>
        <p:spPr>
          <a:xfrm>
            <a:off x="3310128" y="1298448"/>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Regularized</a:t>
            </a:r>
            <a:endParaRPr lang="en-US" sz="900" dirty="0"/>
          </a:p>
        </p:txBody>
      </p:sp>
      <p:sp>
        <p:nvSpPr>
          <p:cNvPr id="19" name="Text 17"/>
          <p:cNvSpPr/>
          <p:nvPr/>
        </p:nvSpPr>
        <p:spPr>
          <a:xfrm>
            <a:off x="3310128" y="1627632"/>
            <a:ext cx="2606040" cy="1280160"/>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Extends Linear Regression with L2 regularization. Penalizes large coefficients, reduces overfitting, and improves generalization on unseen data.</a:t>
            </a:r>
            <a:endParaRPr lang="en-US" sz="1100" dirty="0"/>
          </a:p>
        </p:txBody>
      </p:sp>
      <p:sp>
        <p:nvSpPr>
          <p:cNvPr id="20" name="Text 18"/>
          <p:cNvSpPr/>
          <p:nvPr/>
        </p:nvSpPr>
        <p:spPr>
          <a:xfrm>
            <a:off x="3310128" y="2944368"/>
            <a:ext cx="2606040" cy="25603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Advantages:</a:t>
            </a:r>
            <a:endParaRPr lang="en-US" sz="1100" dirty="0"/>
          </a:p>
        </p:txBody>
      </p:sp>
      <p:sp>
        <p:nvSpPr>
          <p:cNvPr id="21" name="Text 19"/>
          <p:cNvSpPr/>
          <p:nvPr/>
        </p:nvSpPr>
        <p:spPr>
          <a:xfrm>
            <a:off x="3310128" y="3218688"/>
            <a:ext cx="2606040" cy="96012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 Handles multicollinearity</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Prevents overfitting</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Stable predictions</a:t>
            </a:r>
            <a:endParaRPr lang="en-US" sz="1050" dirty="0"/>
          </a:p>
        </p:txBody>
      </p:sp>
      <p:sp>
        <p:nvSpPr>
          <p:cNvPr id="22" name="Shape 20"/>
          <p:cNvSpPr/>
          <p:nvPr/>
        </p:nvSpPr>
        <p:spPr>
          <a:xfrm>
            <a:off x="6172200" y="804672"/>
            <a:ext cx="2834640" cy="406908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3" name="Shape 21"/>
          <p:cNvSpPr/>
          <p:nvPr/>
        </p:nvSpPr>
        <p:spPr>
          <a:xfrm>
            <a:off x="6172200" y="804672"/>
            <a:ext cx="2834640" cy="411480"/>
          </a:xfrm>
          <a:prstGeom prst="rect">
            <a:avLst/>
          </a:prstGeom>
          <a:solidFill>
            <a:srgbClr val="02C39A"/>
          </a:solidFill>
          <a:ln/>
        </p:spPr>
      </p:sp>
      <p:sp>
        <p:nvSpPr>
          <p:cNvPr id="24" name="Text 22"/>
          <p:cNvSpPr/>
          <p:nvPr/>
        </p:nvSpPr>
        <p:spPr>
          <a:xfrm>
            <a:off x="6172200" y="804672"/>
            <a:ext cx="283464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Lasso Regression</a:t>
            </a:r>
            <a:endParaRPr lang="en-US" sz="1300" dirty="0"/>
          </a:p>
        </p:txBody>
      </p:sp>
      <p:sp>
        <p:nvSpPr>
          <p:cNvPr id="25" name="Shape 23"/>
          <p:cNvSpPr/>
          <p:nvPr/>
        </p:nvSpPr>
        <p:spPr>
          <a:xfrm>
            <a:off x="6281928" y="1298448"/>
            <a:ext cx="822960" cy="256032"/>
          </a:xfrm>
          <a:prstGeom prst="rect">
            <a:avLst/>
          </a:prstGeom>
          <a:solidFill>
            <a:srgbClr val="02C39A">
              <a:alpha val="70000"/>
            </a:srgbClr>
          </a:solidFill>
          <a:ln/>
        </p:spPr>
      </p:sp>
      <p:sp>
        <p:nvSpPr>
          <p:cNvPr id="26" name="Text 24"/>
          <p:cNvSpPr/>
          <p:nvPr/>
        </p:nvSpPr>
        <p:spPr>
          <a:xfrm>
            <a:off x="6281928" y="1298448"/>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Feature Selection</a:t>
            </a:r>
            <a:endParaRPr lang="en-US" sz="900" dirty="0"/>
          </a:p>
        </p:txBody>
      </p:sp>
      <p:sp>
        <p:nvSpPr>
          <p:cNvPr id="27" name="Text 25"/>
          <p:cNvSpPr/>
          <p:nvPr/>
        </p:nvSpPr>
        <p:spPr>
          <a:xfrm>
            <a:off x="6281928" y="1627632"/>
            <a:ext cx="2606040" cy="1280160"/>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Applies L1 regularization for prediction and feature selection. Automatically reduces less important feature coefficients to zero, simplifying the model.</a:t>
            </a:r>
            <a:endParaRPr lang="en-US" sz="1100" dirty="0"/>
          </a:p>
        </p:txBody>
      </p:sp>
      <p:sp>
        <p:nvSpPr>
          <p:cNvPr id="28" name="Text 26"/>
          <p:cNvSpPr/>
          <p:nvPr/>
        </p:nvSpPr>
        <p:spPr>
          <a:xfrm>
            <a:off x="6281928" y="2944368"/>
            <a:ext cx="2606040" cy="25603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Advantages:</a:t>
            </a:r>
            <a:endParaRPr lang="en-US" sz="1100" dirty="0"/>
          </a:p>
        </p:txBody>
      </p:sp>
      <p:sp>
        <p:nvSpPr>
          <p:cNvPr id="29" name="Text 27"/>
          <p:cNvSpPr/>
          <p:nvPr/>
        </p:nvSpPr>
        <p:spPr>
          <a:xfrm>
            <a:off x="6281928" y="3218688"/>
            <a:ext cx="2606040" cy="96012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 Automatic feature selection</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Reduces complexity</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Improved accuracy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Model Training</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04672"/>
            <a:ext cx="8641080" cy="137160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Text 5"/>
          <p:cNvSpPr/>
          <p:nvPr/>
        </p:nvSpPr>
        <p:spPr>
          <a:xfrm>
            <a:off x="457200" y="850392"/>
            <a:ext cx="822960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Dataset Split: 80% Training / 20% Testing</a:t>
            </a:r>
            <a:endParaRPr lang="en-US" sz="1300" dirty="0"/>
          </a:p>
        </p:txBody>
      </p:sp>
      <p:sp>
        <p:nvSpPr>
          <p:cNvPr id="8" name="Shape 6"/>
          <p:cNvSpPr/>
          <p:nvPr/>
        </p:nvSpPr>
        <p:spPr>
          <a:xfrm>
            <a:off x="457200" y="1225296"/>
            <a:ext cx="6583680" cy="594360"/>
          </a:xfrm>
          <a:prstGeom prst="rect">
            <a:avLst/>
          </a:prstGeom>
          <a:solidFill>
            <a:srgbClr val="028090"/>
          </a:solidFill>
          <a:ln/>
        </p:spPr>
      </p:sp>
      <p:sp>
        <p:nvSpPr>
          <p:cNvPr id="9" name="Text 7"/>
          <p:cNvSpPr/>
          <p:nvPr/>
        </p:nvSpPr>
        <p:spPr>
          <a:xfrm>
            <a:off x="457200" y="1225296"/>
            <a:ext cx="658368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Training Set — 8,709 samples (80%)</a:t>
            </a:r>
            <a:endParaRPr lang="en-US" sz="1200" dirty="0"/>
          </a:p>
        </p:txBody>
      </p:sp>
      <p:sp>
        <p:nvSpPr>
          <p:cNvPr id="10" name="Shape 8"/>
          <p:cNvSpPr/>
          <p:nvPr/>
        </p:nvSpPr>
        <p:spPr>
          <a:xfrm>
            <a:off x="7132320" y="1225296"/>
            <a:ext cx="1645920" cy="594360"/>
          </a:xfrm>
          <a:prstGeom prst="rect">
            <a:avLst/>
          </a:prstGeom>
          <a:solidFill>
            <a:srgbClr val="F9A825"/>
          </a:solidFill>
          <a:ln/>
        </p:spPr>
      </p:sp>
      <p:sp>
        <p:nvSpPr>
          <p:cNvPr id="11" name="Text 9"/>
          <p:cNvSpPr/>
          <p:nvPr/>
        </p:nvSpPr>
        <p:spPr>
          <a:xfrm>
            <a:off x="7132320" y="1225296"/>
            <a:ext cx="1645920" cy="594360"/>
          </a:xfrm>
          <a:prstGeom prst="rect">
            <a:avLst/>
          </a:prstGeom>
          <a:noFill/>
          <a:ln/>
        </p:spPr>
        <p:txBody>
          <a:bodyPr wrap="square" lIns="0" tIns="0" rIns="0" bIns="0" rtlCol="0" anchor="ctr"/>
          <a:lstStyle/>
          <a:p>
            <a:pPr marL="0" indent="0" algn="ctr">
              <a:buNone/>
            </a:pPr>
            <a:r>
              <a:rPr lang="en-US" sz="1000" b="1" dirty="0">
                <a:solidFill>
                  <a:srgbClr val="071320"/>
                </a:solidFill>
                <a:latin typeface="Calibri" pitchFamily="34" charset="0"/>
                <a:ea typeface="Calibri" pitchFamily="34" charset="-122"/>
                <a:cs typeface="Calibri" pitchFamily="34" charset="-120"/>
              </a:rPr>
              <a:t>Test — 2,177</a:t>
            </a:r>
            <a:endParaRPr lang="en-US" sz="1000" dirty="0"/>
          </a:p>
          <a:p>
            <a:pPr marL="0" indent="0" algn="ctr">
              <a:buNone/>
            </a:pPr>
            <a:r>
              <a:rPr lang="en-US" sz="1000" b="1" dirty="0">
                <a:solidFill>
                  <a:srgbClr val="071320"/>
                </a:solidFill>
                <a:latin typeface="Calibri" pitchFamily="34" charset="0"/>
                <a:ea typeface="Calibri" pitchFamily="34" charset="-122"/>
                <a:cs typeface="Calibri" pitchFamily="34" charset="-120"/>
              </a:rPr>
              <a:t>(20%)</a:t>
            </a:r>
            <a:endParaRPr lang="en-US" sz="1000" dirty="0"/>
          </a:p>
        </p:txBody>
      </p:sp>
      <p:sp>
        <p:nvSpPr>
          <p:cNvPr id="12" name="Shape 10"/>
          <p:cNvSpPr/>
          <p:nvPr/>
        </p:nvSpPr>
        <p:spPr>
          <a:xfrm>
            <a:off x="274320" y="2377440"/>
            <a:ext cx="4114800" cy="14173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3" name="Shape 11"/>
          <p:cNvSpPr/>
          <p:nvPr/>
        </p:nvSpPr>
        <p:spPr>
          <a:xfrm>
            <a:off x="274320" y="2468880"/>
            <a:ext cx="457200" cy="457200"/>
          </a:xfrm>
          <a:prstGeom prst="ellipse">
            <a:avLst/>
          </a:prstGeom>
          <a:solidFill>
            <a:srgbClr val="028090"/>
          </a:solidFill>
          <a:ln/>
        </p:spPr>
      </p:sp>
      <p:sp>
        <p:nvSpPr>
          <p:cNvPr id="14" name="Text 12"/>
          <p:cNvSpPr/>
          <p:nvPr/>
        </p:nvSpPr>
        <p:spPr>
          <a:xfrm>
            <a:off x="27432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 name="Text 13"/>
          <p:cNvSpPr/>
          <p:nvPr/>
        </p:nvSpPr>
        <p:spPr>
          <a:xfrm>
            <a:off x="841248" y="2487168"/>
            <a:ext cx="3383280" cy="32004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Feature Selection</a:t>
            </a:r>
            <a:endParaRPr lang="en-US" sz="1200" dirty="0"/>
          </a:p>
        </p:txBody>
      </p:sp>
      <p:sp>
        <p:nvSpPr>
          <p:cNvPr id="16" name="Text 14"/>
          <p:cNvSpPr/>
          <p:nvPr/>
        </p:nvSpPr>
        <p:spPr>
          <a:xfrm>
            <a:off x="438912" y="2852928"/>
            <a:ext cx="3822192" cy="86868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Environmental &amp; time features selected as inputs: season, weather, temp, humidity, windspeed, holidays, weekday, AM/PM, year, month, day</a:t>
            </a:r>
            <a:endParaRPr lang="en-US" sz="1050" dirty="0"/>
          </a:p>
        </p:txBody>
      </p:sp>
      <p:sp>
        <p:nvSpPr>
          <p:cNvPr id="17" name="Shape 15"/>
          <p:cNvSpPr/>
          <p:nvPr/>
        </p:nvSpPr>
        <p:spPr>
          <a:xfrm>
            <a:off x="4617720" y="2377440"/>
            <a:ext cx="4114800" cy="14173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8" name="Shape 16"/>
          <p:cNvSpPr/>
          <p:nvPr/>
        </p:nvSpPr>
        <p:spPr>
          <a:xfrm>
            <a:off x="4617720" y="2468880"/>
            <a:ext cx="457200" cy="457200"/>
          </a:xfrm>
          <a:prstGeom prst="ellipse">
            <a:avLst/>
          </a:prstGeom>
          <a:solidFill>
            <a:srgbClr val="028090"/>
          </a:solidFill>
          <a:ln/>
        </p:spPr>
      </p:sp>
      <p:sp>
        <p:nvSpPr>
          <p:cNvPr id="19" name="Text 17"/>
          <p:cNvSpPr/>
          <p:nvPr/>
        </p:nvSpPr>
        <p:spPr>
          <a:xfrm>
            <a:off x="461772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5184648" y="2487168"/>
            <a:ext cx="3383280" cy="32004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Model Initialization</a:t>
            </a:r>
            <a:endParaRPr lang="en-US" sz="1200" dirty="0"/>
          </a:p>
        </p:txBody>
      </p:sp>
      <p:sp>
        <p:nvSpPr>
          <p:cNvPr id="21" name="Text 19"/>
          <p:cNvSpPr/>
          <p:nvPr/>
        </p:nvSpPr>
        <p:spPr>
          <a:xfrm>
            <a:off x="4782312" y="2852928"/>
            <a:ext cx="3822192" cy="86868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Three models instantiated: LinearRegression(), Ridge(alpha=1.0), Lasso(alpha=1.0) from scikit-learn library</a:t>
            </a:r>
            <a:endParaRPr lang="en-US" sz="1050" dirty="0"/>
          </a:p>
        </p:txBody>
      </p:sp>
      <p:sp>
        <p:nvSpPr>
          <p:cNvPr id="22" name="Shape 20"/>
          <p:cNvSpPr/>
          <p:nvPr/>
        </p:nvSpPr>
        <p:spPr>
          <a:xfrm>
            <a:off x="274320" y="3520440"/>
            <a:ext cx="4114800" cy="14173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3" name="Shape 21"/>
          <p:cNvSpPr/>
          <p:nvPr/>
        </p:nvSpPr>
        <p:spPr>
          <a:xfrm>
            <a:off x="274320" y="3611880"/>
            <a:ext cx="457200" cy="457200"/>
          </a:xfrm>
          <a:prstGeom prst="ellipse">
            <a:avLst/>
          </a:prstGeom>
          <a:solidFill>
            <a:srgbClr val="028090"/>
          </a:solidFill>
          <a:ln/>
        </p:spPr>
      </p:sp>
      <p:sp>
        <p:nvSpPr>
          <p:cNvPr id="24" name="Text 22"/>
          <p:cNvSpPr/>
          <p:nvPr/>
        </p:nvSpPr>
        <p:spPr>
          <a:xfrm>
            <a:off x="274320" y="3611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841248" y="3630168"/>
            <a:ext cx="3383280" cy="32004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Model Fitting</a:t>
            </a:r>
            <a:endParaRPr lang="en-US" sz="1200" dirty="0"/>
          </a:p>
        </p:txBody>
      </p:sp>
      <p:sp>
        <p:nvSpPr>
          <p:cNvPr id="26" name="Text 24"/>
          <p:cNvSpPr/>
          <p:nvPr/>
        </p:nvSpPr>
        <p:spPr>
          <a:xfrm>
            <a:off x="438912" y="3995928"/>
            <a:ext cx="3822192" cy="86868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Each model trained on 80% of data using model.fit(X_train, y_train) to learn demand patterns from environmental inputs</a:t>
            </a:r>
            <a:endParaRPr lang="en-US" sz="1050" dirty="0"/>
          </a:p>
        </p:txBody>
      </p:sp>
      <p:sp>
        <p:nvSpPr>
          <p:cNvPr id="27" name="Shape 25"/>
          <p:cNvSpPr/>
          <p:nvPr/>
        </p:nvSpPr>
        <p:spPr>
          <a:xfrm>
            <a:off x="4617720" y="3520440"/>
            <a:ext cx="4114800" cy="14173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8" name="Shape 26"/>
          <p:cNvSpPr/>
          <p:nvPr/>
        </p:nvSpPr>
        <p:spPr>
          <a:xfrm>
            <a:off x="4617720" y="3611880"/>
            <a:ext cx="457200" cy="457200"/>
          </a:xfrm>
          <a:prstGeom prst="ellipse">
            <a:avLst/>
          </a:prstGeom>
          <a:solidFill>
            <a:srgbClr val="028090"/>
          </a:solidFill>
          <a:ln/>
        </p:spPr>
      </p:sp>
      <p:sp>
        <p:nvSpPr>
          <p:cNvPr id="29" name="Text 27"/>
          <p:cNvSpPr/>
          <p:nvPr/>
        </p:nvSpPr>
        <p:spPr>
          <a:xfrm>
            <a:off x="4617720" y="3611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5184648" y="3630168"/>
            <a:ext cx="3383280" cy="32004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Prediction</a:t>
            </a:r>
            <a:endParaRPr lang="en-US" sz="1200" dirty="0"/>
          </a:p>
        </p:txBody>
      </p:sp>
      <p:sp>
        <p:nvSpPr>
          <p:cNvPr id="31" name="Text 29"/>
          <p:cNvSpPr/>
          <p:nvPr/>
        </p:nvSpPr>
        <p:spPr>
          <a:xfrm>
            <a:off x="4782312" y="3995928"/>
            <a:ext cx="3822192" cy="868680"/>
          </a:xfrm>
          <a:prstGeom prst="rect">
            <a:avLst/>
          </a:prstGeom>
          <a:noFill/>
          <a:ln/>
        </p:spPr>
        <p:txBody>
          <a:bodyPr wrap="square" lIns="0" tIns="0" rIns="0" bIns="0" rtlCol="0" anchor="t"/>
          <a:lstStyle/>
          <a:p>
            <a:pPr marL="0" indent="0">
              <a:buNone/>
            </a:pPr>
            <a:r>
              <a:rPr lang="en-US" sz="1050" dirty="0">
                <a:solidFill>
                  <a:srgbClr val="E8F4F8"/>
                </a:solidFill>
                <a:latin typeface="Calibri" pitchFamily="34" charset="0"/>
                <a:ea typeface="Calibri" pitchFamily="34" charset="-122"/>
                <a:cs typeface="Calibri" pitchFamily="34" charset="-120"/>
              </a:rPr>
              <a:t>Trained models applied to unseen test data using model.predict(X_test) to generate ride count forecasts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Comparative Analysis</a:t>
            </a:r>
            <a:endParaRPr lang="en-US" sz="2200" dirty="0"/>
          </a:p>
        </p:txBody>
      </p:sp>
      <p:sp>
        <p:nvSpPr>
          <p:cNvPr id="5" name="Shape 3"/>
          <p:cNvSpPr/>
          <p:nvPr/>
        </p:nvSpPr>
        <p:spPr>
          <a:xfrm>
            <a:off x="274320" y="658368"/>
            <a:ext cx="1097280" cy="36576"/>
          </a:xfrm>
          <a:prstGeom prst="rect">
            <a:avLst/>
          </a:prstGeom>
          <a:solidFill>
            <a:srgbClr val="02C39A"/>
          </a:solidFill>
          <a:ln/>
        </p:spPr>
      </p:sp>
      <p:graphicFrame>
        <p:nvGraphicFramePr>
          <p:cNvPr id="6" name="Chart 0"/>
          <p:cNvGraphicFramePr/>
          <p:nvPr/>
        </p:nvGraphicFramePr>
        <p:xfrm>
          <a:off x="274320" y="804672"/>
          <a:ext cx="41148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4617720" y="804672"/>
          <a:ext cx="41148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274320" y="3017520"/>
            <a:ext cx="8641080" cy="187452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9" name="Text 5"/>
          <p:cNvSpPr/>
          <p:nvPr/>
        </p:nvSpPr>
        <p:spPr>
          <a:xfrm>
            <a:off x="411480" y="3063240"/>
            <a:ext cx="8229600" cy="320040"/>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Model Comparison Summary</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3401568"/>
          <a:ext cx="8503920" cy="1371600"/>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3429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R² Score</a:t>
                      </a:r>
                      <a:endParaRPr lang="en-US" sz="110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MSE</a:t>
                      </a:r>
                      <a:endParaRPr lang="en-US" sz="110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42900">
                <a:tc>
                  <a:txBody>
                    <a:bodyPr/>
                    <a:lstStyle/>
                    <a:p>
                      <a:pPr marL="0" indent="0">
                        <a:buNone/>
                      </a:pPr>
                      <a:r>
                        <a:rPr lang="en-US" sz="1050" dirty="0">
                          <a:solidFill>
                            <a:srgbClr val="E8F4F8"/>
                          </a:solidFill>
                          <a:latin typeface="Calibri" pitchFamily="34" charset="0"/>
                          <a:ea typeface="Calibri" pitchFamily="34" charset="-122"/>
                          <a:cs typeface="Calibri" pitchFamily="34" charset="-120"/>
                        </a:rPr>
                        <a:t>Linear Regression</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lgn="ctr">
                        <a:buNone/>
                      </a:pPr>
                      <a:r>
                        <a:rPr lang="en-US" sz="1050" dirty="0">
                          <a:solidFill>
                            <a:srgbClr val="E8F4F8"/>
                          </a:solidFill>
                          <a:latin typeface="Calibri" pitchFamily="34" charset="0"/>
                          <a:ea typeface="Calibri" pitchFamily="34" charset="-122"/>
                          <a:cs typeface="Calibri" pitchFamily="34" charset="-120"/>
                        </a:rPr>
                        <a:t>0.82</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lgn="ctr">
                        <a:buNone/>
                      </a:pPr>
                      <a:r>
                        <a:rPr lang="en-US" sz="1050" dirty="0">
                          <a:solidFill>
                            <a:srgbClr val="E8F4F8"/>
                          </a:solidFill>
                          <a:latin typeface="Calibri" pitchFamily="34" charset="0"/>
                          <a:ea typeface="Calibri" pitchFamily="34" charset="-122"/>
                          <a:cs typeface="Calibri" pitchFamily="34" charset="-120"/>
                        </a:rPr>
                        <a:t>9,643</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lgn="ctr">
                        <a:buNone/>
                      </a:pPr>
                      <a:r>
                        <a:rPr lang="en-US" sz="1050" dirty="0">
                          <a:solidFill>
                            <a:srgbClr val="E8F4F8"/>
                          </a:solidFill>
                          <a:latin typeface="Calibri" pitchFamily="34" charset="0"/>
                          <a:ea typeface="Calibri" pitchFamily="34" charset="-122"/>
                          <a:cs typeface="Calibri" pitchFamily="34" charset="-120"/>
                        </a:rPr>
                        <a:t>98.2</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buNone/>
                      </a:pPr>
                      <a:r>
                        <a:rPr lang="en-US" sz="1050" dirty="0">
                          <a:solidFill>
                            <a:srgbClr val="E8F4F8"/>
                          </a:solidFill>
                          <a:latin typeface="Calibri" pitchFamily="34" charset="0"/>
                          <a:ea typeface="Calibri" pitchFamily="34" charset="-122"/>
                          <a:cs typeface="Calibri" pitchFamily="34" charset="-120"/>
                        </a:rPr>
                        <a:t>Baseline / Interpretability</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extLst>
                  <a:ext uri="{0D108BD9-81ED-4DB2-BD59-A6C34878D82A}">
                    <a16:rowId xmlns:a16="http://schemas.microsoft.com/office/drawing/2014/main" val="10001"/>
                  </a:ext>
                </a:extLst>
              </a:tr>
              <a:tr h="342900">
                <a:tc>
                  <a:txBody>
                    <a:bodyPr/>
                    <a:lstStyle/>
                    <a:p>
                      <a:pPr marL="0" indent="0">
                        <a:buNone/>
                      </a:pPr>
                      <a:r>
                        <a:rPr lang="en-US" sz="1050" b="1" dirty="0">
                          <a:solidFill>
                            <a:srgbClr val="02C39A"/>
                          </a:solidFill>
                          <a:latin typeface="Calibri" pitchFamily="34" charset="0"/>
                          <a:ea typeface="Calibri" pitchFamily="34" charset="-122"/>
                          <a:cs typeface="Calibri" pitchFamily="34" charset="-120"/>
                        </a:rPr>
                        <a:t>Ridge Regression ★</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D2535"/>
                    </a:solidFill>
                  </a:tcPr>
                </a:tc>
                <a:tc>
                  <a:txBody>
                    <a:bodyPr/>
                    <a:lstStyle/>
                    <a:p>
                      <a:pPr marL="0" indent="0" algn="ctr">
                        <a:buNone/>
                      </a:pPr>
                      <a:r>
                        <a:rPr lang="en-US" sz="1050" b="1" dirty="0">
                          <a:solidFill>
                            <a:srgbClr val="02C39A"/>
                          </a:solidFill>
                          <a:latin typeface="Calibri" pitchFamily="34" charset="0"/>
                          <a:ea typeface="Calibri" pitchFamily="34" charset="-122"/>
                          <a:cs typeface="Calibri" pitchFamily="34" charset="-120"/>
                        </a:rPr>
                        <a:t>0.85</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D2535"/>
                    </a:solidFill>
                  </a:tcPr>
                </a:tc>
                <a:tc>
                  <a:txBody>
                    <a:bodyPr/>
                    <a:lstStyle/>
                    <a:p>
                      <a:pPr marL="0" indent="0" algn="ctr">
                        <a:buNone/>
                      </a:pPr>
                      <a:r>
                        <a:rPr lang="en-US" sz="1050" b="1" dirty="0">
                          <a:solidFill>
                            <a:srgbClr val="02C39A"/>
                          </a:solidFill>
                          <a:latin typeface="Calibri" pitchFamily="34" charset="0"/>
                          <a:ea typeface="Calibri" pitchFamily="34" charset="-122"/>
                          <a:cs typeface="Calibri" pitchFamily="34" charset="-120"/>
                        </a:rPr>
                        <a:t>7,992</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D2535"/>
                    </a:solidFill>
                  </a:tcPr>
                </a:tc>
                <a:tc>
                  <a:txBody>
                    <a:bodyPr/>
                    <a:lstStyle/>
                    <a:p>
                      <a:pPr marL="0" indent="0" algn="ctr">
                        <a:buNone/>
                      </a:pPr>
                      <a:r>
                        <a:rPr lang="en-US" sz="1050" b="1" dirty="0">
                          <a:solidFill>
                            <a:srgbClr val="02C39A"/>
                          </a:solidFill>
                          <a:latin typeface="Calibri" pitchFamily="34" charset="0"/>
                          <a:ea typeface="Calibri" pitchFamily="34" charset="-122"/>
                          <a:cs typeface="Calibri" pitchFamily="34" charset="-120"/>
                        </a:rPr>
                        <a:t>89.4</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D2535"/>
                    </a:solidFill>
                  </a:tcPr>
                </a:tc>
                <a:tc>
                  <a:txBody>
                    <a:bodyPr/>
                    <a:lstStyle/>
                    <a:p>
                      <a:pPr marL="0" indent="0">
                        <a:buNone/>
                      </a:pPr>
                      <a:r>
                        <a:rPr lang="en-US" sz="1050" b="1" dirty="0">
                          <a:solidFill>
                            <a:srgbClr val="02C39A"/>
                          </a:solidFill>
                          <a:latin typeface="Calibri" pitchFamily="34" charset="0"/>
                          <a:ea typeface="Calibri" pitchFamily="34" charset="-122"/>
                          <a:cs typeface="Calibri" pitchFamily="34" charset="-120"/>
                        </a:rPr>
                        <a:t>Best overall performance</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0D2535"/>
                    </a:solidFill>
                  </a:tcPr>
                </a:tc>
                <a:extLst>
                  <a:ext uri="{0D108BD9-81ED-4DB2-BD59-A6C34878D82A}">
                    <a16:rowId xmlns:a16="http://schemas.microsoft.com/office/drawing/2014/main" val="10002"/>
                  </a:ext>
                </a:extLst>
              </a:tr>
              <a:tr h="342900">
                <a:tc>
                  <a:txBody>
                    <a:bodyPr/>
                    <a:lstStyle/>
                    <a:p>
                      <a:pPr marL="0" indent="0">
                        <a:buNone/>
                      </a:pPr>
                      <a:r>
                        <a:rPr lang="en-US" sz="1050" dirty="0">
                          <a:solidFill>
                            <a:srgbClr val="E8F4F8"/>
                          </a:solidFill>
                          <a:latin typeface="Calibri" pitchFamily="34" charset="0"/>
                          <a:ea typeface="Calibri" pitchFamily="34" charset="-122"/>
                          <a:cs typeface="Calibri" pitchFamily="34" charset="-120"/>
                        </a:rPr>
                        <a:t>Lasso Regression</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lgn="ctr">
                        <a:buNone/>
                      </a:pPr>
                      <a:r>
                        <a:rPr lang="en-US" sz="1050" dirty="0">
                          <a:solidFill>
                            <a:srgbClr val="E8F4F8"/>
                          </a:solidFill>
                          <a:latin typeface="Calibri" pitchFamily="34" charset="0"/>
                          <a:ea typeface="Calibri" pitchFamily="34" charset="-122"/>
                          <a:cs typeface="Calibri" pitchFamily="34" charset="-120"/>
                        </a:rPr>
                        <a:t>0.84</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lgn="ctr">
                        <a:buNone/>
                      </a:pPr>
                      <a:r>
                        <a:rPr lang="en-US" sz="1050" dirty="0">
                          <a:solidFill>
                            <a:srgbClr val="E8F4F8"/>
                          </a:solidFill>
                          <a:latin typeface="Calibri" pitchFamily="34" charset="0"/>
                          <a:ea typeface="Calibri" pitchFamily="34" charset="-122"/>
                          <a:cs typeface="Calibri" pitchFamily="34" charset="-120"/>
                        </a:rPr>
                        <a:t>8,409</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lgn="ctr">
                        <a:buNone/>
                      </a:pPr>
                      <a:r>
                        <a:rPr lang="en-US" sz="1050" dirty="0">
                          <a:solidFill>
                            <a:srgbClr val="E8F4F8"/>
                          </a:solidFill>
                          <a:latin typeface="Calibri" pitchFamily="34" charset="0"/>
                          <a:ea typeface="Calibri" pitchFamily="34" charset="-122"/>
                          <a:cs typeface="Calibri" pitchFamily="34" charset="-120"/>
                        </a:rPr>
                        <a:t>91.7</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tc>
                  <a:txBody>
                    <a:bodyPr/>
                    <a:lstStyle/>
                    <a:p>
                      <a:pPr marL="0" indent="0">
                        <a:buNone/>
                      </a:pPr>
                      <a:r>
                        <a:rPr lang="en-US" sz="1050" dirty="0">
                          <a:solidFill>
                            <a:srgbClr val="E8F4F8"/>
                          </a:solidFill>
                          <a:latin typeface="Calibri" pitchFamily="34" charset="0"/>
                          <a:ea typeface="Calibri" pitchFamily="34" charset="-122"/>
                          <a:cs typeface="Calibri" pitchFamily="34" charset="-120"/>
                        </a:rPr>
                        <a:t>Feature selection</a:t>
                      </a:r>
                      <a:endParaRPr lang="en-US" sz="1050" dirty="0">
                        <a:latin typeface="Calibri" charset="0"/>
                        <a:ea typeface="Calibri" charset="0"/>
                        <a:cs typeface="Calibri" charset="0"/>
                      </a:endParaRPr>
                    </a:p>
                  </a:txBody>
                  <a:tcPr>
                    <a:lnL w="6350" cap="flat" cmpd="sng" algn="ctr">
                      <a:solidFill>
                        <a:srgbClr val="1A3045"/>
                      </a:solidFill>
                      <a:prstDash val="solid"/>
                      <a:round/>
                      <a:headEnd type="none" w="med" len="med"/>
                      <a:tailEnd type="none" w="med" len="med"/>
                    </a:lnL>
                    <a:lnR w="6350" cap="flat" cmpd="sng" algn="ctr">
                      <a:solidFill>
                        <a:srgbClr val="1A3045"/>
                      </a:solidFill>
                      <a:prstDash val="solid"/>
                      <a:round/>
                      <a:headEnd type="none" w="med" len="med"/>
                      <a:tailEnd type="none" w="med" len="med"/>
                    </a:lnR>
                    <a:lnT w="6350" cap="flat" cmpd="sng" algn="ctr">
                      <a:solidFill>
                        <a:srgbClr val="1A3045"/>
                      </a:solidFill>
                      <a:prstDash val="solid"/>
                      <a:round/>
                      <a:headEnd type="none" w="med" len="med"/>
                      <a:tailEnd type="none" w="med" len="med"/>
                    </a:lnT>
                    <a:lnB w="6350" cap="flat" cmpd="sng" algn="ctr">
                      <a:solidFill>
                        <a:srgbClr val="1A3045"/>
                      </a:solidFill>
                      <a:prstDash val="solid"/>
                      <a:round/>
                      <a:headEnd type="none" w="med" len="med"/>
                      <a:tailEnd type="none" w="med" len="med"/>
                    </a:lnB>
                    <a:solidFill>
                      <a:srgbClr val="13223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Results &amp; Model Performance</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28600" y="804672"/>
            <a:ext cx="1938528" cy="1051560"/>
          </a:xfrm>
          <a:prstGeom prst="rect">
            <a:avLst/>
          </a:prstGeom>
          <a:solidFill>
            <a:srgbClr val="028090"/>
          </a:solidFill>
          <a:ln/>
        </p:spPr>
      </p:sp>
      <p:sp>
        <p:nvSpPr>
          <p:cNvPr id="7" name="Text 5"/>
          <p:cNvSpPr/>
          <p:nvPr/>
        </p:nvSpPr>
        <p:spPr>
          <a:xfrm>
            <a:off x="228600" y="804672"/>
            <a:ext cx="1938528" cy="621792"/>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0.85</a:t>
            </a:r>
            <a:endParaRPr lang="en-US" sz="2600" dirty="0"/>
          </a:p>
        </p:txBody>
      </p:sp>
      <p:sp>
        <p:nvSpPr>
          <p:cNvPr id="8" name="Text 6"/>
          <p:cNvSpPr/>
          <p:nvPr/>
        </p:nvSpPr>
        <p:spPr>
          <a:xfrm>
            <a:off x="228600" y="1408176"/>
            <a:ext cx="1938528" cy="411480"/>
          </a:xfrm>
          <a:prstGeom prst="rect">
            <a:avLst/>
          </a:prstGeom>
          <a:noFill/>
          <a:ln/>
        </p:spPr>
        <p:txBody>
          <a:bodyPr wrap="square" lIns="0" tIns="0" rIns="0" bIns="0" rtlCol="0" anchor="t"/>
          <a:lstStyle/>
          <a:p>
            <a:pPr marL="0" indent="0" algn="ctr">
              <a:buNone/>
            </a:pPr>
            <a:r>
              <a:rPr lang="en-US" sz="1000" dirty="0">
                <a:solidFill>
                  <a:srgbClr val="E0F7F5"/>
                </a:solidFill>
                <a:latin typeface="Calibri" pitchFamily="34" charset="0"/>
                <a:ea typeface="Calibri" pitchFamily="34" charset="-122"/>
                <a:cs typeface="Calibri" pitchFamily="34" charset="-120"/>
              </a:rPr>
              <a:t>Best R² Score</a:t>
            </a:r>
            <a:endParaRPr lang="en-US" sz="1000" dirty="0"/>
          </a:p>
          <a:p>
            <a:pPr marL="0" indent="0" algn="ctr">
              <a:buNone/>
            </a:pPr>
            <a:r>
              <a:rPr lang="en-US" sz="1000" dirty="0">
                <a:solidFill>
                  <a:srgbClr val="E0F7F5"/>
                </a:solidFill>
                <a:latin typeface="Calibri" pitchFamily="34" charset="0"/>
                <a:ea typeface="Calibri" pitchFamily="34" charset="-122"/>
                <a:cs typeface="Calibri" pitchFamily="34" charset="-120"/>
              </a:rPr>
              <a:t>(Ridge)</a:t>
            </a:r>
            <a:endParaRPr lang="en-US" sz="1000" dirty="0"/>
          </a:p>
        </p:txBody>
      </p:sp>
      <p:sp>
        <p:nvSpPr>
          <p:cNvPr id="9" name="Shape 7"/>
          <p:cNvSpPr/>
          <p:nvPr/>
        </p:nvSpPr>
        <p:spPr>
          <a:xfrm>
            <a:off x="2441448" y="804672"/>
            <a:ext cx="1938528" cy="1051560"/>
          </a:xfrm>
          <a:prstGeom prst="rect">
            <a:avLst/>
          </a:prstGeom>
          <a:solidFill>
            <a:srgbClr val="028090"/>
          </a:solidFill>
          <a:ln/>
        </p:spPr>
      </p:sp>
      <p:sp>
        <p:nvSpPr>
          <p:cNvPr id="10" name="Text 8"/>
          <p:cNvSpPr/>
          <p:nvPr/>
        </p:nvSpPr>
        <p:spPr>
          <a:xfrm>
            <a:off x="2441448" y="804672"/>
            <a:ext cx="1938528" cy="621792"/>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89.4</a:t>
            </a:r>
            <a:endParaRPr lang="en-US" sz="2600" dirty="0"/>
          </a:p>
        </p:txBody>
      </p:sp>
      <p:sp>
        <p:nvSpPr>
          <p:cNvPr id="11" name="Text 9"/>
          <p:cNvSpPr/>
          <p:nvPr/>
        </p:nvSpPr>
        <p:spPr>
          <a:xfrm>
            <a:off x="2441448" y="1408176"/>
            <a:ext cx="1938528" cy="411480"/>
          </a:xfrm>
          <a:prstGeom prst="rect">
            <a:avLst/>
          </a:prstGeom>
          <a:noFill/>
          <a:ln/>
        </p:spPr>
        <p:txBody>
          <a:bodyPr wrap="square" lIns="0" tIns="0" rIns="0" bIns="0" rtlCol="0" anchor="t"/>
          <a:lstStyle/>
          <a:p>
            <a:pPr marL="0" indent="0" algn="ctr">
              <a:buNone/>
            </a:pPr>
            <a:r>
              <a:rPr lang="en-US" sz="1000" dirty="0">
                <a:solidFill>
                  <a:srgbClr val="E0F7F5"/>
                </a:solidFill>
                <a:latin typeface="Calibri" pitchFamily="34" charset="0"/>
                <a:ea typeface="Calibri" pitchFamily="34" charset="-122"/>
                <a:cs typeface="Calibri" pitchFamily="34" charset="-120"/>
              </a:rPr>
              <a:t>Lowest RMSE</a:t>
            </a:r>
            <a:endParaRPr lang="en-US" sz="1000" dirty="0"/>
          </a:p>
          <a:p>
            <a:pPr marL="0" indent="0" algn="ctr">
              <a:buNone/>
            </a:pPr>
            <a:r>
              <a:rPr lang="en-US" sz="1000" dirty="0">
                <a:solidFill>
                  <a:srgbClr val="E0F7F5"/>
                </a:solidFill>
                <a:latin typeface="Calibri" pitchFamily="34" charset="0"/>
                <a:ea typeface="Calibri" pitchFamily="34" charset="-122"/>
                <a:cs typeface="Calibri" pitchFamily="34" charset="-120"/>
              </a:rPr>
              <a:t>(Ridge)</a:t>
            </a:r>
            <a:endParaRPr lang="en-US" sz="1000" dirty="0"/>
          </a:p>
        </p:txBody>
      </p:sp>
      <p:sp>
        <p:nvSpPr>
          <p:cNvPr id="12" name="Shape 10"/>
          <p:cNvSpPr/>
          <p:nvPr/>
        </p:nvSpPr>
        <p:spPr>
          <a:xfrm>
            <a:off x="4654296" y="804672"/>
            <a:ext cx="1938528" cy="1051560"/>
          </a:xfrm>
          <a:prstGeom prst="rect">
            <a:avLst/>
          </a:prstGeom>
          <a:solidFill>
            <a:srgbClr val="028090"/>
          </a:solidFill>
          <a:ln/>
        </p:spPr>
      </p:sp>
      <p:sp>
        <p:nvSpPr>
          <p:cNvPr id="13" name="Text 11"/>
          <p:cNvSpPr/>
          <p:nvPr/>
        </p:nvSpPr>
        <p:spPr>
          <a:xfrm>
            <a:off x="4654296" y="804672"/>
            <a:ext cx="1938528" cy="621792"/>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4" name="Text 12"/>
          <p:cNvSpPr/>
          <p:nvPr/>
        </p:nvSpPr>
        <p:spPr>
          <a:xfrm>
            <a:off x="4654296" y="1408176"/>
            <a:ext cx="1938528" cy="411480"/>
          </a:xfrm>
          <a:prstGeom prst="rect">
            <a:avLst/>
          </a:prstGeom>
          <a:noFill/>
          <a:ln/>
        </p:spPr>
        <p:txBody>
          <a:bodyPr wrap="square" lIns="0" tIns="0" rIns="0" bIns="0" rtlCol="0" anchor="t"/>
          <a:lstStyle/>
          <a:p>
            <a:pPr marL="0" indent="0" algn="ctr">
              <a:buNone/>
            </a:pPr>
            <a:r>
              <a:rPr lang="en-US" sz="1000" dirty="0">
                <a:solidFill>
                  <a:srgbClr val="E0F7F5"/>
                </a:solidFill>
                <a:latin typeface="Calibri" pitchFamily="34" charset="0"/>
                <a:ea typeface="Calibri" pitchFamily="34" charset="-122"/>
                <a:cs typeface="Calibri" pitchFamily="34" charset="-120"/>
              </a:rPr>
              <a:t>Models</a:t>
            </a:r>
            <a:endParaRPr lang="en-US" sz="1000" dirty="0"/>
          </a:p>
          <a:p>
            <a:pPr marL="0" indent="0" algn="ctr">
              <a:buNone/>
            </a:pPr>
            <a:r>
              <a:rPr lang="en-US" sz="1000" dirty="0">
                <a:solidFill>
                  <a:srgbClr val="E0F7F5"/>
                </a:solidFill>
                <a:latin typeface="Calibri" pitchFamily="34" charset="0"/>
                <a:ea typeface="Calibri" pitchFamily="34" charset="-122"/>
                <a:cs typeface="Calibri" pitchFamily="34" charset="-120"/>
              </a:rPr>
              <a:t>Compared</a:t>
            </a:r>
            <a:endParaRPr lang="en-US" sz="1000" dirty="0"/>
          </a:p>
        </p:txBody>
      </p:sp>
      <p:sp>
        <p:nvSpPr>
          <p:cNvPr id="15" name="Shape 13"/>
          <p:cNvSpPr/>
          <p:nvPr/>
        </p:nvSpPr>
        <p:spPr>
          <a:xfrm>
            <a:off x="6867144" y="804672"/>
            <a:ext cx="1938528" cy="1051560"/>
          </a:xfrm>
          <a:prstGeom prst="rect">
            <a:avLst/>
          </a:prstGeom>
          <a:solidFill>
            <a:srgbClr val="028090"/>
          </a:solidFill>
          <a:ln/>
        </p:spPr>
      </p:sp>
      <p:sp>
        <p:nvSpPr>
          <p:cNvPr id="16" name="Text 14"/>
          <p:cNvSpPr/>
          <p:nvPr/>
        </p:nvSpPr>
        <p:spPr>
          <a:xfrm>
            <a:off x="6867144" y="804672"/>
            <a:ext cx="1938528" cy="621792"/>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10,886</a:t>
            </a:r>
            <a:endParaRPr lang="en-US" sz="2600" dirty="0"/>
          </a:p>
        </p:txBody>
      </p:sp>
      <p:sp>
        <p:nvSpPr>
          <p:cNvPr id="17" name="Text 15"/>
          <p:cNvSpPr/>
          <p:nvPr/>
        </p:nvSpPr>
        <p:spPr>
          <a:xfrm>
            <a:off x="6867144" y="1408176"/>
            <a:ext cx="1938528" cy="411480"/>
          </a:xfrm>
          <a:prstGeom prst="rect">
            <a:avLst/>
          </a:prstGeom>
          <a:noFill/>
          <a:ln/>
        </p:spPr>
        <p:txBody>
          <a:bodyPr wrap="square" lIns="0" tIns="0" rIns="0" bIns="0" rtlCol="0" anchor="t"/>
          <a:lstStyle/>
          <a:p>
            <a:pPr marL="0" indent="0" algn="ctr">
              <a:buNone/>
            </a:pPr>
            <a:r>
              <a:rPr lang="en-US" sz="1000" dirty="0">
                <a:solidFill>
                  <a:srgbClr val="E0F7F5"/>
                </a:solidFill>
                <a:latin typeface="Calibri" pitchFamily="34" charset="0"/>
                <a:ea typeface="Calibri" pitchFamily="34" charset="-122"/>
                <a:cs typeface="Calibri" pitchFamily="34" charset="-120"/>
              </a:rPr>
              <a:t>Records</a:t>
            </a:r>
            <a:endParaRPr lang="en-US" sz="1000" dirty="0"/>
          </a:p>
          <a:p>
            <a:pPr marL="0" indent="0" algn="ctr">
              <a:buNone/>
            </a:pPr>
            <a:r>
              <a:rPr lang="en-US" sz="1000" dirty="0">
                <a:solidFill>
                  <a:srgbClr val="E0F7F5"/>
                </a:solidFill>
                <a:latin typeface="Calibri" pitchFamily="34" charset="0"/>
                <a:ea typeface="Calibri" pitchFamily="34" charset="-122"/>
                <a:cs typeface="Calibri" pitchFamily="34" charset="-120"/>
              </a:rPr>
              <a:t>Analyzed</a:t>
            </a:r>
            <a:endParaRPr lang="en-US" sz="1000" dirty="0"/>
          </a:p>
        </p:txBody>
      </p:sp>
      <p:graphicFrame>
        <p:nvGraphicFramePr>
          <p:cNvPr id="18" name="Chart 0"/>
          <p:cNvGraphicFramePr/>
          <p:nvPr/>
        </p:nvGraphicFramePr>
        <p:xfrm>
          <a:off x="274320" y="1993392"/>
          <a:ext cx="8641080" cy="29260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Project Deployment — Dashboard</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04672"/>
            <a:ext cx="8641080" cy="4069080"/>
          </a:xfrm>
          <a:prstGeom prst="rect">
            <a:avLst/>
          </a:prstGeom>
          <a:solidFill>
            <a:srgbClr val="0A1929"/>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274320" y="804672"/>
            <a:ext cx="8641080" cy="502920"/>
          </a:xfrm>
          <a:prstGeom prst="rect">
            <a:avLst/>
          </a:prstGeom>
          <a:solidFill>
            <a:srgbClr val="071320"/>
          </a:solidFill>
          <a:ln/>
        </p:spPr>
      </p:sp>
      <p:sp>
        <p:nvSpPr>
          <p:cNvPr id="8" name="Text 6"/>
          <p:cNvSpPr/>
          <p:nvPr/>
        </p:nvSpPr>
        <p:spPr>
          <a:xfrm>
            <a:off x="457200" y="804672"/>
            <a:ext cx="457200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Ride Analytics Dashboard</a:t>
            </a:r>
            <a:endParaRPr lang="en-US" sz="1300" dirty="0"/>
          </a:p>
        </p:txBody>
      </p:sp>
      <p:sp>
        <p:nvSpPr>
          <p:cNvPr id="9" name="Text 7"/>
          <p:cNvSpPr/>
          <p:nvPr/>
        </p:nvSpPr>
        <p:spPr>
          <a:xfrm>
            <a:off x="457200" y="1298448"/>
            <a:ext cx="8229600" cy="256032"/>
          </a:xfrm>
          <a:prstGeom prst="rect">
            <a:avLst/>
          </a:prstGeom>
          <a:noFill/>
          <a:ln/>
        </p:spPr>
        <p:txBody>
          <a:bodyPr wrap="square" lIns="0" tIns="0" rIns="0" bIns="0" rtlCol="0" anchor="ctr"/>
          <a:lstStyle/>
          <a:p>
            <a:pPr marL="0" indent="0">
              <a:buNone/>
            </a:pPr>
            <a:r>
              <a:rPr lang="en-US" sz="900" i="1" dirty="0">
                <a:solidFill>
                  <a:srgbClr val="B0C4CE"/>
                </a:solidFill>
                <a:latin typeface="Calibri" pitchFamily="34" charset="0"/>
                <a:ea typeface="Calibri" pitchFamily="34" charset="-122"/>
                <a:cs typeface="Calibri" pitchFamily="34" charset="-120"/>
              </a:rPr>
              <a:t>Observe ride request counts based on temporal and environmental features</a:t>
            </a:r>
            <a:endParaRPr lang="en-US" sz="900" dirty="0"/>
          </a:p>
        </p:txBody>
      </p:sp>
      <p:graphicFrame>
        <p:nvGraphicFramePr>
          <p:cNvPr id="10" name="Chart 0"/>
          <p:cNvGraphicFramePr/>
          <p:nvPr/>
        </p:nvGraphicFramePr>
        <p:xfrm>
          <a:off x="365760" y="1600200"/>
          <a:ext cx="3291840" cy="1508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nvGraphicFramePr>
        <p:xfrm>
          <a:off x="3794760" y="1600200"/>
          <a:ext cx="3291840" cy="15087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2"/>
          <p:cNvGraphicFramePr/>
          <p:nvPr/>
        </p:nvGraphicFramePr>
        <p:xfrm>
          <a:off x="365760" y="3200400"/>
          <a:ext cx="5212080" cy="15544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3"/>
          <p:cNvGraphicFramePr/>
          <p:nvPr/>
        </p:nvGraphicFramePr>
        <p:xfrm>
          <a:off x="5669280" y="3200400"/>
          <a:ext cx="3108960" cy="155448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p:spPr>
      </p:sp>
      <p:sp>
        <p:nvSpPr>
          <p:cNvPr id="3" name="Shape 1"/>
          <p:cNvSpPr/>
          <p:nvPr/>
        </p:nvSpPr>
        <p:spPr>
          <a:xfrm>
            <a:off x="7772400" y="-731520"/>
            <a:ext cx="2286000" cy="2286000"/>
          </a:xfrm>
          <a:prstGeom prst="ellipse">
            <a:avLst/>
          </a:prstGeom>
          <a:solidFill>
            <a:srgbClr val="028090">
              <a:alpha val="15000"/>
            </a:srgbClr>
          </a:solidFill>
          <a:ln/>
        </p:spPr>
      </p:sp>
      <p:sp>
        <p:nvSpPr>
          <p:cNvPr id="4" name="Text 2"/>
          <p:cNvSpPr/>
          <p:nvPr/>
        </p:nvSpPr>
        <p:spPr>
          <a:xfrm>
            <a:off x="274320" y="164592"/>
            <a:ext cx="7772400" cy="502920"/>
          </a:xfrm>
          <a:prstGeom prst="rect">
            <a:avLst/>
          </a:prstGeom>
          <a:noFill/>
          <a:ln/>
        </p:spPr>
        <p:txBody>
          <a:bodyPr wrap="square" lIns="0" tIns="0" rIns="0" bIns="0" rtlCol="0" anchor="ctr"/>
          <a:lstStyle/>
          <a:p>
            <a:pPr marL="0" indent="0">
              <a:buNone/>
            </a:pPr>
            <a:r>
              <a:rPr lang="en-US" sz="2200" b="1" dirty="0">
                <a:solidFill>
                  <a:srgbClr val="00A896"/>
                </a:solidFill>
                <a:latin typeface="Calibri" pitchFamily="34" charset="0"/>
                <a:ea typeface="Calibri" pitchFamily="34" charset="-122"/>
                <a:cs typeface="Calibri" pitchFamily="34" charset="-120"/>
              </a:rPr>
              <a:t>Conclusion</a:t>
            </a:r>
            <a:endParaRPr lang="en-US" sz="2200" dirty="0"/>
          </a:p>
        </p:txBody>
      </p:sp>
      <p:sp>
        <p:nvSpPr>
          <p:cNvPr id="5" name="Shape 3"/>
          <p:cNvSpPr/>
          <p:nvPr/>
        </p:nvSpPr>
        <p:spPr>
          <a:xfrm>
            <a:off x="274320" y="658368"/>
            <a:ext cx="1097280" cy="36576"/>
          </a:xfrm>
          <a:prstGeom prst="rect">
            <a:avLst/>
          </a:prstGeom>
          <a:solidFill>
            <a:srgbClr val="02C39A"/>
          </a:solidFill>
          <a:ln/>
        </p:spPr>
      </p:sp>
      <p:sp>
        <p:nvSpPr>
          <p:cNvPr id="6" name="Shape 4"/>
          <p:cNvSpPr/>
          <p:nvPr/>
        </p:nvSpPr>
        <p:spPr>
          <a:xfrm>
            <a:off x="274320" y="804672"/>
            <a:ext cx="4160520" cy="160020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7" name="Shape 5"/>
          <p:cNvSpPr/>
          <p:nvPr/>
        </p:nvSpPr>
        <p:spPr>
          <a:xfrm>
            <a:off x="411480" y="941832"/>
            <a:ext cx="457200" cy="457200"/>
          </a:xfrm>
          <a:prstGeom prst="ellipse">
            <a:avLst/>
          </a:prstGeom>
          <a:solidFill>
            <a:srgbClr val="028090"/>
          </a:solidFill>
          <a:ln/>
        </p:spPr>
      </p:sp>
      <p:sp>
        <p:nvSpPr>
          <p:cNvPr id="8" name="Text 6"/>
          <p:cNvSpPr/>
          <p:nvPr/>
        </p:nvSpPr>
        <p:spPr>
          <a:xfrm>
            <a:off x="411480" y="9418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87552" y="969264"/>
            <a:ext cx="329184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Successful ML System</a:t>
            </a:r>
            <a:endParaRPr lang="en-US" sz="1300" dirty="0"/>
          </a:p>
        </p:txBody>
      </p:sp>
      <p:sp>
        <p:nvSpPr>
          <p:cNvPr id="10" name="Text 8"/>
          <p:cNvSpPr/>
          <p:nvPr/>
        </p:nvSpPr>
        <p:spPr>
          <a:xfrm>
            <a:off x="457200" y="1399032"/>
            <a:ext cx="384048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Developed a complete ML pipeline for predicting Ola bike ride requests using historical data and environmental features.</a:t>
            </a:r>
            <a:endParaRPr lang="en-US" sz="1100" dirty="0"/>
          </a:p>
        </p:txBody>
      </p:sp>
      <p:sp>
        <p:nvSpPr>
          <p:cNvPr id="11" name="Shape 9"/>
          <p:cNvSpPr/>
          <p:nvPr/>
        </p:nvSpPr>
        <p:spPr>
          <a:xfrm>
            <a:off x="4663440" y="804672"/>
            <a:ext cx="4160520" cy="160020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2" name="Shape 10"/>
          <p:cNvSpPr/>
          <p:nvPr/>
        </p:nvSpPr>
        <p:spPr>
          <a:xfrm>
            <a:off x="4800600" y="941832"/>
            <a:ext cx="457200" cy="457200"/>
          </a:xfrm>
          <a:prstGeom prst="ellipse">
            <a:avLst/>
          </a:prstGeom>
          <a:solidFill>
            <a:srgbClr val="028090"/>
          </a:solidFill>
          <a:ln/>
        </p:spPr>
      </p:sp>
      <p:sp>
        <p:nvSpPr>
          <p:cNvPr id="13" name="Text 11"/>
          <p:cNvSpPr/>
          <p:nvPr/>
        </p:nvSpPr>
        <p:spPr>
          <a:xfrm>
            <a:off x="4800600" y="9418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5376672" y="969264"/>
            <a:ext cx="329184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Three Models Compared</a:t>
            </a:r>
            <a:endParaRPr lang="en-US" sz="1300" dirty="0"/>
          </a:p>
        </p:txBody>
      </p:sp>
      <p:sp>
        <p:nvSpPr>
          <p:cNvPr id="15" name="Text 13"/>
          <p:cNvSpPr/>
          <p:nvPr/>
        </p:nvSpPr>
        <p:spPr>
          <a:xfrm>
            <a:off x="4846320" y="1399032"/>
            <a:ext cx="384048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Linear, Ridge, and Lasso Regression evaluated using R², MSE, and RMSE. Ridge Regression achieved best performance.</a:t>
            </a:r>
            <a:endParaRPr lang="en-US" sz="1100" dirty="0"/>
          </a:p>
        </p:txBody>
      </p:sp>
      <p:sp>
        <p:nvSpPr>
          <p:cNvPr id="16" name="Shape 14"/>
          <p:cNvSpPr/>
          <p:nvPr/>
        </p:nvSpPr>
        <p:spPr>
          <a:xfrm>
            <a:off x="274320" y="2606040"/>
            <a:ext cx="4160520" cy="160020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17" name="Shape 15"/>
          <p:cNvSpPr/>
          <p:nvPr/>
        </p:nvSpPr>
        <p:spPr>
          <a:xfrm>
            <a:off x="411480" y="2743200"/>
            <a:ext cx="457200" cy="457200"/>
          </a:xfrm>
          <a:prstGeom prst="ellipse">
            <a:avLst/>
          </a:prstGeom>
          <a:solidFill>
            <a:srgbClr val="028090"/>
          </a:solidFill>
          <a:ln/>
        </p:spPr>
      </p:sp>
      <p:sp>
        <p:nvSpPr>
          <p:cNvPr id="18" name="Text 16"/>
          <p:cNvSpPr/>
          <p:nvPr/>
        </p:nvSpPr>
        <p:spPr>
          <a:xfrm>
            <a:off x="411480" y="2743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987552" y="2770632"/>
            <a:ext cx="329184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Effective Preprocessing</a:t>
            </a:r>
            <a:endParaRPr lang="en-US" sz="1300" dirty="0"/>
          </a:p>
        </p:txBody>
      </p:sp>
      <p:sp>
        <p:nvSpPr>
          <p:cNvPr id="20" name="Text 18"/>
          <p:cNvSpPr/>
          <p:nvPr/>
        </p:nvSpPr>
        <p:spPr>
          <a:xfrm>
            <a:off x="457200" y="3200400"/>
            <a:ext cx="384048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Missing values handled via median imputation, features standardized and encoded for optimal model performance.</a:t>
            </a:r>
            <a:endParaRPr lang="en-US" sz="1100" dirty="0"/>
          </a:p>
        </p:txBody>
      </p:sp>
      <p:sp>
        <p:nvSpPr>
          <p:cNvPr id="21" name="Shape 19"/>
          <p:cNvSpPr/>
          <p:nvPr/>
        </p:nvSpPr>
        <p:spPr>
          <a:xfrm>
            <a:off x="4663440" y="2606040"/>
            <a:ext cx="4160520" cy="1600200"/>
          </a:xfrm>
          <a:prstGeom prst="rect">
            <a:avLst/>
          </a:prstGeom>
          <a:solidFill>
            <a:srgbClr val="132233"/>
          </a:solidFill>
          <a:ln w="6350">
            <a:solidFill>
              <a:srgbClr val="028090"/>
            </a:solidFill>
            <a:prstDash val="solid"/>
          </a:ln>
          <a:effectLst>
            <a:outerShdw blurRad="101600" dist="25400" dir="8100000" algn="bl" rotWithShape="0">
              <a:srgbClr val="000000">
                <a:alpha val="30000"/>
              </a:srgbClr>
            </a:outerShdw>
          </a:effectLst>
        </p:spPr>
      </p:sp>
      <p:sp>
        <p:nvSpPr>
          <p:cNvPr id="22" name="Shape 20"/>
          <p:cNvSpPr/>
          <p:nvPr/>
        </p:nvSpPr>
        <p:spPr>
          <a:xfrm>
            <a:off x="4800600" y="2743200"/>
            <a:ext cx="457200" cy="457200"/>
          </a:xfrm>
          <a:prstGeom prst="ellipse">
            <a:avLst/>
          </a:prstGeom>
          <a:solidFill>
            <a:srgbClr val="028090"/>
          </a:solidFill>
          <a:ln/>
        </p:spPr>
      </p:sp>
      <p:sp>
        <p:nvSpPr>
          <p:cNvPr id="23" name="Text 21"/>
          <p:cNvSpPr/>
          <p:nvPr/>
        </p:nvSpPr>
        <p:spPr>
          <a:xfrm>
            <a:off x="4800600" y="2743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5376672" y="2770632"/>
            <a:ext cx="3291840" cy="347472"/>
          </a:xfrm>
          <a:prstGeom prst="rect">
            <a:avLst/>
          </a:prstGeom>
          <a:noFill/>
          <a:ln/>
        </p:spPr>
        <p:txBody>
          <a:bodyPr wrap="square" lIns="0" tIns="0" rIns="0" bIns="0" rtlCol="0" anchor="ctr"/>
          <a:lstStyle/>
          <a:p>
            <a:pPr marL="0" indent="0">
              <a:buNone/>
            </a:pPr>
            <a:r>
              <a:rPr lang="en-US" sz="1300" b="1" dirty="0">
                <a:solidFill>
                  <a:srgbClr val="00A896"/>
                </a:solidFill>
                <a:latin typeface="Calibri" pitchFamily="34" charset="0"/>
                <a:ea typeface="Calibri" pitchFamily="34" charset="-122"/>
                <a:cs typeface="Calibri" pitchFamily="34" charset="-120"/>
              </a:rPr>
              <a:t>Interactive Dashboard</a:t>
            </a:r>
            <a:endParaRPr lang="en-US" sz="1300" dirty="0"/>
          </a:p>
        </p:txBody>
      </p:sp>
      <p:sp>
        <p:nvSpPr>
          <p:cNvPr id="25" name="Text 23"/>
          <p:cNvSpPr/>
          <p:nvPr/>
        </p:nvSpPr>
        <p:spPr>
          <a:xfrm>
            <a:off x="4846320" y="3200400"/>
            <a:ext cx="3840480" cy="896112"/>
          </a:xfrm>
          <a:prstGeom prst="rect">
            <a:avLst/>
          </a:prstGeom>
          <a:noFill/>
          <a:ln/>
        </p:spPr>
        <p:txBody>
          <a:bodyPr wrap="square" lIns="0" tIns="0" rIns="0" bIns="0" rtlCol="0" anchor="t"/>
          <a:lstStyle/>
          <a:p>
            <a:pPr marL="0" indent="0">
              <a:buNone/>
            </a:pPr>
            <a:r>
              <a:rPr lang="en-US" sz="1100" dirty="0">
                <a:solidFill>
                  <a:srgbClr val="E8F4F8"/>
                </a:solidFill>
                <a:latin typeface="Calibri" pitchFamily="34" charset="0"/>
                <a:ea typeface="Calibri" pitchFamily="34" charset="-122"/>
                <a:cs typeface="Calibri" pitchFamily="34" charset="-120"/>
              </a:rPr>
              <a:t>Analytics dashboard built to visualize ride demand patterns by season, weather, month, and time period.</a:t>
            </a:r>
            <a:endParaRPr lang="en-US" sz="1100" dirty="0"/>
          </a:p>
        </p:txBody>
      </p:sp>
      <p:sp>
        <p:nvSpPr>
          <p:cNvPr id="26" name="Shape 24"/>
          <p:cNvSpPr/>
          <p:nvPr/>
        </p:nvSpPr>
        <p:spPr>
          <a:xfrm>
            <a:off x="274320" y="4297680"/>
            <a:ext cx="8641080" cy="658368"/>
          </a:xfrm>
          <a:prstGeom prst="rect">
            <a:avLst/>
          </a:prstGeom>
          <a:solidFill>
            <a:srgbClr val="1A3045"/>
          </a:solidFill>
          <a:ln w="6350">
            <a:solidFill>
              <a:srgbClr val="028090"/>
            </a:solidFill>
            <a:prstDash val="solid"/>
          </a:ln>
          <a:effectLst>
            <a:outerShdw blurRad="101600" dist="25400" dir="8100000" algn="bl" rotWithShape="0">
              <a:srgbClr val="000000">
                <a:alpha val="30000"/>
              </a:srgbClr>
            </a:outerShdw>
          </a:effectLst>
        </p:spPr>
      </p:sp>
      <p:sp>
        <p:nvSpPr>
          <p:cNvPr id="27" name="Text 25"/>
          <p:cNvSpPr/>
          <p:nvPr/>
        </p:nvSpPr>
        <p:spPr>
          <a:xfrm>
            <a:off x="457200" y="4334256"/>
            <a:ext cx="8321040" cy="566928"/>
          </a:xfrm>
          <a:prstGeom prst="rect">
            <a:avLst/>
          </a:prstGeom>
          <a:noFill/>
          <a:ln/>
        </p:spPr>
        <p:txBody>
          <a:bodyPr wrap="square" lIns="0" tIns="0" rIns="0" bIns="0" rtlCol="0" anchor="ctr"/>
          <a:lstStyle/>
          <a:p>
            <a:pPr marL="0" indent="0">
              <a:buNone/>
            </a:pPr>
            <a:r>
              <a:rPr lang="en-US" sz="1100" i="1" dirty="0">
                <a:solidFill>
                  <a:srgbClr val="02C39A"/>
                </a:solidFill>
                <a:latin typeface="Calibri" pitchFamily="34" charset="0"/>
                <a:ea typeface="Calibri" pitchFamily="34" charset="-122"/>
                <a:cs typeface="Calibri" pitchFamily="34" charset="-120"/>
              </a:rPr>
              <a:t>Future Enhancements: Real-time weather integration · Advanced models (Random Forest, XGBoost) · Live GPS tracking · Traffic pattern analysis · Mobile prediction app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1116</Words>
  <Application>Microsoft Office PowerPoint</Application>
  <PresentationFormat>On-screen Show (16:9)</PresentationFormat>
  <Paragraphs>265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Ola Bike Ride Request Forecast using Machine Learning</dc:title>
  <dc:subject>PptxGenJS Presentation</dc:subject>
  <dc:creator>PptxGenJS</dc:creator>
  <cp:lastModifiedBy>vishnu vardhan reddy</cp:lastModifiedBy>
  <cp:revision>1</cp:revision>
  <dcterms:created xsi:type="dcterms:W3CDTF">2026-06-07T18:08:55Z</dcterms:created>
  <dcterms:modified xsi:type="dcterms:W3CDTF">2026-06-08T04:30:16Z</dcterms:modified>
</cp:coreProperties>
</file>